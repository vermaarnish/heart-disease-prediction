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83" r:id="rId3"/>
    <p:sldId id="259" r:id="rId4"/>
    <p:sldId id="324" r:id="rId5"/>
    <p:sldId id="294" r:id="rId6"/>
    <p:sldId id="297" r:id="rId7"/>
    <p:sldId id="298" r:id="rId8"/>
    <p:sldId id="299" r:id="rId9"/>
    <p:sldId id="319" r:id="rId10"/>
    <p:sldId id="300" r:id="rId11"/>
    <p:sldId id="302" r:id="rId12"/>
    <p:sldId id="274" r:id="rId13"/>
    <p:sldId id="305" r:id="rId14"/>
    <p:sldId id="269" r:id="rId15"/>
    <p:sldId id="295" r:id="rId16"/>
    <p:sldId id="296" r:id="rId17"/>
    <p:sldId id="326" r:id="rId18"/>
    <p:sldId id="327" r:id="rId19"/>
    <p:sldId id="271" r:id="rId20"/>
    <p:sldId id="272" r:id="rId21"/>
    <p:sldId id="264" r:id="rId22"/>
    <p:sldId id="285" r:id="rId23"/>
    <p:sldId id="325" r:id="rId24"/>
  </p:sldIdLst>
  <p:sldSz cx="10972800" cy="7315200"/>
  <p:notesSz cx="6858000" cy="9144000"/>
  <p:defaultTextStyle>
    <a:defPPr>
      <a:defRPr lang="en-US"/>
    </a:defPPr>
    <a:lvl1pPr marL="0" algn="l" defTabSz="966612" rtl="0" eaLnBrk="1" latinLnBrk="0" hangingPunct="1">
      <a:defRPr sz="1900" kern="1200">
        <a:solidFill>
          <a:schemeClr val="tx1"/>
        </a:solidFill>
        <a:latin typeface="+mn-lt"/>
        <a:ea typeface="+mn-ea"/>
        <a:cs typeface="+mn-cs"/>
      </a:defRPr>
    </a:lvl1pPr>
    <a:lvl2pPr marL="483306" algn="l" defTabSz="966612" rtl="0" eaLnBrk="1" latinLnBrk="0" hangingPunct="1">
      <a:defRPr sz="1900" kern="1200">
        <a:solidFill>
          <a:schemeClr val="tx1"/>
        </a:solidFill>
        <a:latin typeface="+mn-lt"/>
        <a:ea typeface="+mn-ea"/>
        <a:cs typeface="+mn-cs"/>
      </a:defRPr>
    </a:lvl2pPr>
    <a:lvl3pPr marL="966612" algn="l" defTabSz="966612" rtl="0" eaLnBrk="1" latinLnBrk="0" hangingPunct="1">
      <a:defRPr sz="1900" kern="1200">
        <a:solidFill>
          <a:schemeClr val="tx1"/>
        </a:solidFill>
        <a:latin typeface="+mn-lt"/>
        <a:ea typeface="+mn-ea"/>
        <a:cs typeface="+mn-cs"/>
      </a:defRPr>
    </a:lvl3pPr>
    <a:lvl4pPr marL="1449918" algn="l" defTabSz="966612" rtl="0" eaLnBrk="1" latinLnBrk="0" hangingPunct="1">
      <a:defRPr sz="1900" kern="1200">
        <a:solidFill>
          <a:schemeClr val="tx1"/>
        </a:solidFill>
        <a:latin typeface="+mn-lt"/>
        <a:ea typeface="+mn-ea"/>
        <a:cs typeface="+mn-cs"/>
      </a:defRPr>
    </a:lvl4pPr>
    <a:lvl5pPr marL="1933224" algn="l" defTabSz="966612" rtl="0" eaLnBrk="1" latinLnBrk="0" hangingPunct="1">
      <a:defRPr sz="1900" kern="1200">
        <a:solidFill>
          <a:schemeClr val="tx1"/>
        </a:solidFill>
        <a:latin typeface="+mn-lt"/>
        <a:ea typeface="+mn-ea"/>
        <a:cs typeface="+mn-cs"/>
      </a:defRPr>
    </a:lvl5pPr>
    <a:lvl6pPr marL="2416531" algn="l" defTabSz="966612" rtl="0" eaLnBrk="1" latinLnBrk="0" hangingPunct="1">
      <a:defRPr sz="1900" kern="1200">
        <a:solidFill>
          <a:schemeClr val="tx1"/>
        </a:solidFill>
        <a:latin typeface="+mn-lt"/>
        <a:ea typeface="+mn-ea"/>
        <a:cs typeface="+mn-cs"/>
      </a:defRPr>
    </a:lvl6pPr>
    <a:lvl7pPr marL="2899837" algn="l" defTabSz="966612" rtl="0" eaLnBrk="1" latinLnBrk="0" hangingPunct="1">
      <a:defRPr sz="1900" kern="1200">
        <a:solidFill>
          <a:schemeClr val="tx1"/>
        </a:solidFill>
        <a:latin typeface="+mn-lt"/>
        <a:ea typeface="+mn-ea"/>
        <a:cs typeface="+mn-cs"/>
      </a:defRPr>
    </a:lvl7pPr>
    <a:lvl8pPr marL="3383143" algn="l" defTabSz="966612" rtl="0" eaLnBrk="1" latinLnBrk="0" hangingPunct="1">
      <a:defRPr sz="1900" kern="1200">
        <a:solidFill>
          <a:schemeClr val="tx1"/>
        </a:solidFill>
        <a:latin typeface="+mn-lt"/>
        <a:ea typeface="+mn-ea"/>
        <a:cs typeface="+mn-cs"/>
      </a:defRPr>
    </a:lvl8pPr>
    <a:lvl9pPr marL="3866449" algn="l" defTabSz="966612"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345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94" autoAdjust="0"/>
    <p:restoredTop sz="94660"/>
  </p:normalViewPr>
  <p:slideViewPr>
    <p:cSldViewPr>
      <p:cViewPr varScale="1">
        <p:scale>
          <a:sx n="73" d="100"/>
          <a:sy n="73" d="100"/>
        </p:scale>
        <p:origin x="1670" y="72"/>
      </p:cViewPr>
      <p:guideLst>
        <p:guide orient="horz" pos="2304"/>
        <p:guide pos="3457"/>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D0422A-3F44-4DA4-A01E-D7CB041CA9B0}" type="datetimeFigureOut">
              <a:rPr lang="en-US" smtClean="0"/>
              <a:pPr/>
              <a:t>5/14/2024</a:t>
            </a:fld>
            <a:endParaRPr lang="en-US"/>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018E90-48BA-4516-91C9-2FBFC4B349D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6018E90-48BA-4516-91C9-2FBFC4B349D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C6FF5F-8C73-440F-870C-387CAC4AA491}" type="slidenum">
              <a:rPr lang="en-US" smtClean="0"/>
              <a:t>2</a:t>
            </a:fld>
            <a:endParaRPr lang="en-US" dirty="0"/>
          </a:p>
        </p:txBody>
      </p:sp>
    </p:spTree>
    <p:extLst>
      <p:ext uri="{BB962C8B-B14F-4D97-AF65-F5344CB8AC3E}">
        <p14:creationId xmlns:p14="http://schemas.microsoft.com/office/powerpoint/2010/main" val="1372338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018E90-48BA-4516-91C9-2FBFC4B349DE}" type="slidenum">
              <a:rPr lang="en-US" smtClean="0"/>
              <a:pPr/>
              <a:t>3</a:t>
            </a:fld>
            <a:endParaRPr lang="en-US"/>
          </a:p>
        </p:txBody>
      </p:sp>
    </p:spTree>
    <p:extLst>
      <p:ext uri="{BB962C8B-B14F-4D97-AF65-F5344CB8AC3E}">
        <p14:creationId xmlns:p14="http://schemas.microsoft.com/office/powerpoint/2010/main" val="2644922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C6FF5F-8C73-440F-870C-387CAC4AA491}" type="slidenum">
              <a:rPr lang="en-US" smtClean="0"/>
              <a:t>13</a:t>
            </a:fld>
            <a:endParaRPr lang="en-US" dirty="0"/>
          </a:p>
        </p:txBody>
      </p:sp>
    </p:spTree>
    <p:extLst>
      <p:ext uri="{BB962C8B-B14F-4D97-AF65-F5344CB8AC3E}">
        <p14:creationId xmlns:p14="http://schemas.microsoft.com/office/powerpoint/2010/main" val="55906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272457"/>
            <a:ext cx="9326880" cy="1568027"/>
          </a:xfrm>
        </p:spPr>
        <p:txBody>
          <a:bodyPr/>
          <a:lstStyle/>
          <a:p>
            <a:r>
              <a:rPr lang="en-US"/>
              <a:t>Click to edit Master title style</a:t>
            </a:r>
          </a:p>
        </p:txBody>
      </p:sp>
      <p:sp>
        <p:nvSpPr>
          <p:cNvPr id="3" name="Subtitle 2"/>
          <p:cNvSpPr>
            <a:spLocks noGrp="1"/>
          </p:cNvSpPr>
          <p:nvPr>
            <p:ph type="subTitle" idx="1"/>
          </p:nvPr>
        </p:nvSpPr>
        <p:spPr>
          <a:xfrm>
            <a:off x="1645921" y="4145280"/>
            <a:ext cx="7680960" cy="1869440"/>
          </a:xfrm>
        </p:spPr>
        <p:txBody>
          <a:bodyPr/>
          <a:lstStyle>
            <a:lvl1pPr marL="0" indent="0" algn="ctr">
              <a:buNone/>
              <a:defRPr>
                <a:solidFill>
                  <a:schemeClr val="tx1">
                    <a:tint val="75000"/>
                  </a:schemeClr>
                </a:solidFill>
              </a:defRPr>
            </a:lvl1pPr>
            <a:lvl2pPr marL="483306" indent="0" algn="ctr">
              <a:buNone/>
              <a:defRPr>
                <a:solidFill>
                  <a:schemeClr val="tx1">
                    <a:tint val="75000"/>
                  </a:schemeClr>
                </a:solidFill>
              </a:defRPr>
            </a:lvl2pPr>
            <a:lvl3pPr marL="966612" indent="0" algn="ctr">
              <a:buNone/>
              <a:defRPr>
                <a:solidFill>
                  <a:schemeClr val="tx1">
                    <a:tint val="75000"/>
                  </a:schemeClr>
                </a:solidFill>
              </a:defRPr>
            </a:lvl3pPr>
            <a:lvl4pPr marL="1449918" indent="0" algn="ctr">
              <a:buNone/>
              <a:defRPr>
                <a:solidFill>
                  <a:schemeClr val="tx1">
                    <a:tint val="75000"/>
                  </a:schemeClr>
                </a:solidFill>
              </a:defRPr>
            </a:lvl4pPr>
            <a:lvl5pPr marL="1933224" indent="0" algn="ctr">
              <a:buNone/>
              <a:defRPr>
                <a:solidFill>
                  <a:schemeClr val="tx1">
                    <a:tint val="75000"/>
                  </a:schemeClr>
                </a:solidFill>
              </a:defRPr>
            </a:lvl5pPr>
            <a:lvl6pPr marL="2416531" indent="0" algn="ctr">
              <a:buNone/>
              <a:defRPr>
                <a:solidFill>
                  <a:schemeClr val="tx1">
                    <a:tint val="75000"/>
                  </a:schemeClr>
                </a:solidFill>
              </a:defRPr>
            </a:lvl6pPr>
            <a:lvl7pPr marL="2899837" indent="0" algn="ctr">
              <a:buNone/>
              <a:defRPr>
                <a:solidFill>
                  <a:schemeClr val="tx1">
                    <a:tint val="75000"/>
                  </a:schemeClr>
                </a:solidFill>
              </a:defRPr>
            </a:lvl7pPr>
            <a:lvl8pPr marL="3383143" indent="0" algn="ctr">
              <a:buNone/>
              <a:defRPr>
                <a:solidFill>
                  <a:schemeClr val="tx1">
                    <a:tint val="75000"/>
                  </a:schemeClr>
                </a:solidFill>
              </a:defRPr>
            </a:lvl8pPr>
            <a:lvl9pPr marL="386644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5157ACD-9F3D-4D41-BDDA-F4BC43B3DDA7}"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157ACD-9F3D-4D41-BDDA-F4BC43B3DDA7}"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6" y="4700694"/>
            <a:ext cx="9326880" cy="1452880"/>
          </a:xfrm>
        </p:spPr>
        <p:txBody>
          <a:bodyPr anchor="t"/>
          <a:lstStyle>
            <a:lvl1pPr algn="l">
              <a:defRPr sz="4200" b="1" cap="all"/>
            </a:lvl1pPr>
          </a:lstStyle>
          <a:p>
            <a:r>
              <a:rPr lang="en-US"/>
              <a:t>Click to edit Master title style</a:t>
            </a:r>
          </a:p>
        </p:txBody>
      </p:sp>
      <p:sp>
        <p:nvSpPr>
          <p:cNvPr id="3" name="Text Placeholder 2"/>
          <p:cNvSpPr>
            <a:spLocks noGrp="1"/>
          </p:cNvSpPr>
          <p:nvPr>
            <p:ph type="body" idx="1"/>
          </p:nvPr>
        </p:nvSpPr>
        <p:spPr>
          <a:xfrm>
            <a:off x="866776" y="3100498"/>
            <a:ext cx="9326880" cy="1600199"/>
          </a:xfrm>
        </p:spPr>
        <p:txBody>
          <a:bodyPr anchor="b"/>
          <a:lstStyle>
            <a:lvl1pPr marL="0" indent="0">
              <a:buNone/>
              <a:defRPr sz="2100">
                <a:solidFill>
                  <a:schemeClr val="tx1">
                    <a:tint val="75000"/>
                  </a:schemeClr>
                </a:solidFill>
              </a:defRPr>
            </a:lvl1pPr>
            <a:lvl2pPr marL="483306" indent="0">
              <a:buNone/>
              <a:defRPr sz="1900">
                <a:solidFill>
                  <a:schemeClr val="tx1">
                    <a:tint val="75000"/>
                  </a:schemeClr>
                </a:solidFill>
              </a:defRPr>
            </a:lvl2pPr>
            <a:lvl3pPr marL="966612" indent="0">
              <a:buNone/>
              <a:defRPr sz="1700">
                <a:solidFill>
                  <a:schemeClr val="tx1">
                    <a:tint val="75000"/>
                  </a:schemeClr>
                </a:solidFill>
              </a:defRPr>
            </a:lvl3pPr>
            <a:lvl4pPr marL="1449918" indent="0">
              <a:buNone/>
              <a:defRPr sz="1500">
                <a:solidFill>
                  <a:schemeClr val="tx1">
                    <a:tint val="75000"/>
                  </a:schemeClr>
                </a:solidFill>
              </a:defRPr>
            </a:lvl4pPr>
            <a:lvl5pPr marL="1933224" indent="0">
              <a:buNone/>
              <a:defRPr sz="1500">
                <a:solidFill>
                  <a:schemeClr val="tx1">
                    <a:tint val="75000"/>
                  </a:schemeClr>
                </a:solidFill>
              </a:defRPr>
            </a:lvl5pPr>
            <a:lvl6pPr marL="2416531" indent="0">
              <a:buNone/>
              <a:defRPr sz="1500">
                <a:solidFill>
                  <a:schemeClr val="tx1">
                    <a:tint val="75000"/>
                  </a:schemeClr>
                </a:solidFill>
              </a:defRPr>
            </a:lvl6pPr>
            <a:lvl7pPr marL="2899837" indent="0">
              <a:buNone/>
              <a:defRPr sz="1500">
                <a:solidFill>
                  <a:schemeClr val="tx1">
                    <a:tint val="75000"/>
                  </a:schemeClr>
                </a:solidFill>
              </a:defRPr>
            </a:lvl7pPr>
            <a:lvl8pPr marL="3383143" indent="0">
              <a:buNone/>
              <a:defRPr sz="1500">
                <a:solidFill>
                  <a:schemeClr val="tx1">
                    <a:tint val="75000"/>
                  </a:schemeClr>
                </a:solidFill>
              </a:defRPr>
            </a:lvl8pPr>
            <a:lvl9pPr marL="3866449" indent="0">
              <a:buNone/>
              <a:defRPr sz="1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157ACD-9F3D-4D41-BDDA-F4BC43B3DDA7}"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8640" y="1706882"/>
            <a:ext cx="4846320" cy="4827694"/>
          </a:xfrm>
        </p:spPr>
        <p:txBody>
          <a:bodyPr/>
          <a:lstStyle>
            <a:lvl1pPr>
              <a:defRPr sz="30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577840" y="1706882"/>
            <a:ext cx="4846320" cy="4827694"/>
          </a:xfrm>
        </p:spPr>
        <p:txBody>
          <a:bodyPr/>
          <a:lstStyle>
            <a:lvl1pPr>
              <a:defRPr sz="30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157ACD-9F3D-4D41-BDDA-F4BC43B3DDA7}" type="datetimeFigureOut">
              <a:rPr lang="en-US" smtClean="0"/>
              <a:pPr/>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48642" y="1637456"/>
            <a:ext cx="4848226" cy="682413"/>
          </a:xfrm>
        </p:spPr>
        <p:txBody>
          <a:bodyPr anchor="b"/>
          <a:lstStyle>
            <a:lvl1pPr marL="0" indent="0">
              <a:buNone/>
              <a:defRPr sz="2500" b="1"/>
            </a:lvl1pPr>
            <a:lvl2pPr marL="483306" indent="0">
              <a:buNone/>
              <a:defRPr sz="2100" b="1"/>
            </a:lvl2pPr>
            <a:lvl3pPr marL="966612" indent="0">
              <a:buNone/>
              <a:defRPr sz="1900" b="1"/>
            </a:lvl3pPr>
            <a:lvl4pPr marL="1449918" indent="0">
              <a:buNone/>
              <a:defRPr sz="1700" b="1"/>
            </a:lvl4pPr>
            <a:lvl5pPr marL="1933224" indent="0">
              <a:buNone/>
              <a:defRPr sz="1700" b="1"/>
            </a:lvl5pPr>
            <a:lvl6pPr marL="2416531" indent="0">
              <a:buNone/>
              <a:defRPr sz="1700" b="1"/>
            </a:lvl6pPr>
            <a:lvl7pPr marL="2899837" indent="0">
              <a:buNone/>
              <a:defRPr sz="1700" b="1"/>
            </a:lvl7pPr>
            <a:lvl8pPr marL="3383143" indent="0">
              <a:buNone/>
              <a:defRPr sz="1700" b="1"/>
            </a:lvl8pPr>
            <a:lvl9pPr marL="3866449" indent="0">
              <a:buNone/>
              <a:defRPr sz="1700" b="1"/>
            </a:lvl9pPr>
          </a:lstStyle>
          <a:p>
            <a:pPr lvl="0"/>
            <a:r>
              <a:rPr lang="en-US"/>
              <a:t>Click to edit Master text styles</a:t>
            </a:r>
          </a:p>
        </p:txBody>
      </p:sp>
      <p:sp>
        <p:nvSpPr>
          <p:cNvPr id="4" name="Content Placeholder 3"/>
          <p:cNvSpPr>
            <a:spLocks noGrp="1"/>
          </p:cNvSpPr>
          <p:nvPr>
            <p:ph sz="half" idx="2"/>
          </p:nvPr>
        </p:nvSpPr>
        <p:spPr>
          <a:xfrm>
            <a:off x="548642" y="2319869"/>
            <a:ext cx="4848226" cy="4214707"/>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574032" y="1637456"/>
            <a:ext cx="4850131" cy="682413"/>
          </a:xfrm>
        </p:spPr>
        <p:txBody>
          <a:bodyPr anchor="b"/>
          <a:lstStyle>
            <a:lvl1pPr marL="0" indent="0">
              <a:buNone/>
              <a:defRPr sz="2500" b="1"/>
            </a:lvl1pPr>
            <a:lvl2pPr marL="483306" indent="0">
              <a:buNone/>
              <a:defRPr sz="2100" b="1"/>
            </a:lvl2pPr>
            <a:lvl3pPr marL="966612" indent="0">
              <a:buNone/>
              <a:defRPr sz="1900" b="1"/>
            </a:lvl3pPr>
            <a:lvl4pPr marL="1449918" indent="0">
              <a:buNone/>
              <a:defRPr sz="1700" b="1"/>
            </a:lvl4pPr>
            <a:lvl5pPr marL="1933224" indent="0">
              <a:buNone/>
              <a:defRPr sz="1700" b="1"/>
            </a:lvl5pPr>
            <a:lvl6pPr marL="2416531" indent="0">
              <a:buNone/>
              <a:defRPr sz="1700" b="1"/>
            </a:lvl6pPr>
            <a:lvl7pPr marL="2899837" indent="0">
              <a:buNone/>
              <a:defRPr sz="1700" b="1"/>
            </a:lvl7pPr>
            <a:lvl8pPr marL="3383143" indent="0">
              <a:buNone/>
              <a:defRPr sz="1700" b="1"/>
            </a:lvl8pPr>
            <a:lvl9pPr marL="3866449" indent="0">
              <a:buNone/>
              <a:defRPr sz="1700" b="1"/>
            </a:lvl9pPr>
          </a:lstStyle>
          <a:p>
            <a:pPr lvl="0"/>
            <a:r>
              <a:rPr lang="en-US"/>
              <a:t>Click to edit Master text styles</a:t>
            </a:r>
          </a:p>
        </p:txBody>
      </p:sp>
      <p:sp>
        <p:nvSpPr>
          <p:cNvPr id="6" name="Content Placeholder 5"/>
          <p:cNvSpPr>
            <a:spLocks noGrp="1"/>
          </p:cNvSpPr>
          <p:nvPr>
            <p:ph sz="quarter" idx="4"/>
          </p:nvPr>
        </p:nvSpPr>
        <p:spPr>
          <a:xfrm>
            <a:off x="5574032" y="2319869"/>
            <a:ext cx="4850131" cy="4214707"/>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5157ACD-9F3D-4D41-BDDA-F4BC43B3DDA7}" type="datetimeFigureOut">
              <a:rPr lang="en-US" smtClean="0"/>
              <a:pPr/>
              <a:t>5/14/2024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5157ACD-9F3D-4D41-BDDA-F4BC43B3DDA7}" type="datetimeFigureOut">
              <a:rPr lang="en-US" smtClean="0"/>
              <a:pPr/>
              <a:t>5/14/2024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157ACD-9F3D-4D41-BDDA-F4BC43B3DDA7}" type="datetimeFigureOut">
              <a:rPr lang="en-US" smtClean="0"/>
              <a:pPr/>
              <a:t>5/14/2024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2" y="291253"/>
            <a:ext cx="3609976" cy="1239520"/>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290062" y="291257"/>
            <a:ext cx="6134102" cy="6243321"/>
          </a:xfrm>
        </p:spPr>
        <p:txBody>
          <a:bodyPr/>
          <a:lstStyle>
            <a:lvl1pPr>
              <a:defRPr sz="3400"/>
            </a:lvl1pPr>
            <a:lvl2pPr>
              <a:defRPr sz="3000"/>
            </a:lvl2pPr>
            <a:lvl3pPr>
              <a:defRPr sz="25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48642" y="1530776"/>
            <a:ext cx="3609976" cy="5003801"/>
          </a:xfrm>
        </p:spPr>
        <p:txBody>
          <a:bodyPr/>
          <a:lstStyle>
            <a:lvl1pPr marL="0" indent="0">
              <a:buNone/>
              <a:defRPr sz="1500"/>
            </a:lvl1pPr>
            <a:lvl2pPr marL="483306" indent="0">
              <a:buNone/>
              <a:defRPr sz="1300"/>
            </a:lvl2pPr>
            <a:lvl3pPr marL="966612" indent="0">
              <a:buNone/>
              <a:defRPr sz="1100"/>
            </a:lvl3pPr>
            <a:lvl4pPr marL="1449918" indent="0">
              <a:buNone/>
              <a:defRPr sz="1000"/>
            </a:lvl4pPr>
            <a:lvl5pPr marL="1933224" indent="0">
              <a:buNone/>
              <a:defRPr sz="1000"/>
            </a:lvl5pPr>
            <a:lvl6pPr marL="2416531" indent="0">
              <a:buNone/>
              <a:defRPr sz="1000"/>
            </a:lvl6pPr>
            <a:lvl7pPr marL="2899837" indent="0">
              <a:buNone/>
              <a:defRPr sz="1000"/>
            </a:lvl7pPr>
            <a:lvl8pPr marL="3383143" indent="0">
              <a:buNone/>
              <a:defRPr sz="1000"/>
            </a:lvl8pPr>
            <a:lvl9pPr marL="386644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157ACD-9F3D-4D41-BDDA-F4BC43B3DDA7}" type="datetimeFigureOut">
              <a:rPr lang="en-US" smtClean="0"/>
              <a:pPr/>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0745" y="5120643"/>
            <a:ext cx="6583680" cy="604521"/>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150745" y="653627"/>
            <a:ext cx="6583680" cy="4389120"/>
          </a:xfrm>
        </p:spPr>
        <p:txBody>
          <a:bodyPr/>
          <a:lstStyle>
            <a:lvl1pPr marL="0" indent="0">
              <a:buNone/>
              <a:defRPr sz="3400"/>
            </a:lvl1pPr>
            <a:lvl2pPr marL="483306" indent="0">
              <a:buNone/>
              <a:defRPr sz="3000"/>
            </a:lvl2pPr>
            <a:lvl3pPr marL="966612" indent="0">
              <a:buNone/>
              <a:defRPr sz="2500"/>
            </a:lvl3pPr>
            <a:lvl4pPr marL="1449918" indent="0">
              <a:buNone/>
              <a:defRPr sz="2100"/>
            </a:lvl4pPr>
            <a:lvl5pPr marL="1933224" indent="0">
              <a:buNone/>
              <a:defRPr sz="2100"/>
            </a:lvl5pPr>
            <a:lvl6pPr marL="2416531" indent="0">
              <a:buNone/>
              <a:defRPr sz="2100"/>
            </a:lvl6pPr>
            <a:lvl7pPr marL="2899837" indent="0">
              <a:buNone/>
              <a:defRPr sz="2100"/>
            </a:lvl7pPr>
            <a:lvl8pPr marL="3383143" indent="0">
              <a:buNone/>
              <a:defRPr sz="2100"/>
            </a:lvl8pPr>
            <a:lvl9pPr marL="3866449" indent="0">
              <a:buNone/>
              <a:defRPr sz="2100"/>
            </a:lvl9pPr>
          </a:lstStyle>
          <a:p>
            <a:endParaRPr lang="en-US"/>
          </a:p>
        </p:txBody>
      </p:sp>
      <p:sp>
        <p:nvSpPr>
          <p:cNvPr id="4" name="Text Placeholder 3"/>
          <p:cNvSpPr>
            <a:spLocks noGrp="1"/>
          </p:cNvSpPr>
          <p:nvPr>
            <p:ph type="body" sz="half" idx="2"/>
          </p:nvPr>
        </p:nvSpPr>
        <p:spPr>
          <a:xfrm>
            <a:off x="2150745" y="5725164"/>
            <a:ext cx="6583680" cy="858519"/>
          </a:xfrm>
        </p:spPr>
        <p:txBody>
          <a:bodyPr/>
          <a:lstStyle>
            <a:lvl1pPr marL="0" indent="0">
              <a:buNone/>
              <a:defRPr sz="1500"/>
            </a:lvl1pPr>
            <a:lvl2pPr marL="483306" indent="0">
              <a:buNone/>
              <a:defRPr sz="1300"/>
            </a:lvl2pPr>
            <a:lvl3pPr marL="966612" indent="0">
              <a:buNone/>
              <a:defRPr sz="1100"/>
            </a:lvl3pPr>
            <a:lvl4pPr marL="1449918" indent="0">
              <a:buNone/>
              <a:defRPr sz="1000"/>
            </a:lvl4pPr>
            <a:lvl5pPr marL="1933224" indent="0">
              <a:buNone/>
              <a:defRPr sz="1000"/>
            </a:lvl5pPr>
            <a:lvl6pPr marL="2416531" indent="0">
              <a:buNone/>
              <a:defRPr sz="1000"/>
            </a:lvl6pPr>
            <a:lvl7pPr marL="2899837" indent="0">
              <a:buNone/>
              <a:defRPr sz="1000"/>
            </a:lvl7pPr>
            <a:lvl8pPr marL="3383143" indent="0">
              <a:buNone/>
              <a:defRPr sz="1000"/>
            </a:lvl8pPr>
            <a:lvl9pPr marL="386644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157ACD-9F3D-4D41-BDDA-F4BC43B3DDA7}" type="datetimeFigureOut">
              <a:rPr lang="en-US" smtClean="0"/>
              <a:pPr/>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157ACD-9F3D-4D41-BDDA-F4BC43B3DDA7}"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292951"/>
            <a:ext cx="246888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8640" y="292951"/>
            <a:ext cx="722376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157ACD-9F3D-4D41-BDDA-F4BC43B3DDA7}"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43FA2-7B3F-48C7-97A3-0290D42F778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000"/>
            <a:lum/>
          </a:blip>
          <a:srcRect/>
          <a:stretch>
            <a:fillRect l="10000" r="10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292947"/>
            <a:ext cx="9875520" cy="1219200"/>
          </a:xfrm>
          <a:prstGeom prst="rect">
            <a:avLst/>
          </a:prstGeom>
        </p:spPr>
        <p:txBody>
          <a:bodyPr vert="horz" lIns="96661" tIns="48331" rIns="96661" bIns="48331" rtlCol="0" anchor="ctr">
            <a:normAutofit/>
          </a:bodyPr>
          <a:lstStyle/>
          <a:p>
            <a:r>
              <a:rPr lang="en-US"/>
              <a:t>Click to edit Master title style</a:t>
            </a:r>
          </a:p>
        </p:txBody>
      </p:sp>
      <p:sp>
        <p:nvSpPr>
          <p:cNvPr id="3" name="Text Placeholder 2"/>
          <p:cNvSpPr>
            <a:spLocks noGrp="1"/>
          </p:cNvSpPr>
          <p:nvPr>
            <p:ph type="body" idx="1"/>
          </p:nvPr>
        </p:nvSpPr>
        <p:spPr>
          <a:xfrm>
            <a:off x="548640" y="1706882"/>
            <a:ext cx="9875520" cy="4827694"/>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8640" y="6780110"/>
            <a:ext cx="2560320" cy="389467"/>
          </a:xfrm>
          <a:prstGeom prst="rect">
            <a:avLst/>
          </a:prstGeom>
        </p:spPr>
        <p:txBody>
          <a:bodyPr vert="horz" lIns="96661" tIns="48331" rIns="96661" bIns="48331" rtlCol="0" anchor="ctr"/>
          <a:lstStyle>
            <a:lvl1pPr algn="l">
              <a:defRPr sz="1300">
                <a:solidFill>
                  <a:schemeClr val="tx1">
                    <a:tint val="75000"/>
                  </a:schemeClr>
                </a:solidFill>
              </a:defRPr>
            </a:lvl1pPr>
          </a:lstStyle>
          <a:p>
            <a:fld id="{35157ACD-9F3D-4D41-BDDA-F4BC43B3DDA7}" type="datetimeFigureOut">
              <a:rPr lang="en-US" smtClean="0"/>
              <a:pPr/>
              <a:t>5/14/2024</a:t>
            </a:fld>
            <a:endParaRPr lang="en-US"/>
          </a:p>
        </p:txBody>
      </p:sp>
      <p:sp>
        <p:nvSpPr>
          <p:cNvPr id="5" name="Footer Placeholder 4"/>
          <p:cNvSpPr>
            <a:spLocks noGrp="1"/>
          </p:cNvSpPr>
          <p:nvPr>
            <p:ph type="ftr" sz="quarter" idx="3"/>
          </p:nvPr>
        </p:nvSpPr>
        <p:spPr>
          <a:xfrm>
            <a:off x="3749041" y="6780110"/>
            <a:ext cx="3474720" cy="389467"/>
          </a:xfrm>
          <a:prstGeom prst="rect">
            <a:avLst/>
          </a:prstGeom>
        </p:spPr>
        <p:txBody>
          <a:bodyPr vert="horz" lIns="96661" tIns="48331" rIns="96661" bIns="48331"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63840" y="6780110"/>
            <a:ext cx="2560320" cy="389467"/>
          </a:xfrm>
          <a:prstGeom prst="rect">
            <a:avLst/>
          </a:prstGeom>
        </p:spPr>
        <p:txBody>
          <a:bodyPr vert="horz" lIns="96661" tIns="48331" rIns="96661" bIns="48331" rtlCol="0" anchor="ctr"/>
          <a:lstStyle>
            <a:lvl1pPr algn="r">
              <a:defRPr sz="1300">
                <a:solidFill>
                  <a:schemeClr val="tx1">
                    <a:tint val="75000"/>
                  </a:schemeClr>
                </a:solidFill>
              </a:defRPr>
            </a:lvl1pPr>
          </a:lstStyle>
          <a:p>
            <a:fld id="{29043FA2-7B3F-48C7-97A3-0290D42F778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66612" rtl="0" eaLnBrk="1" latinLnBrk="0" hangingPunct="1">
        <a:spcBef>
          <a:spcPct val="0"/>
        </a:spcBef>
        <a:buNone/>
        <a:defRPr sz="4700" kern="1200">
          <a:solidFill>
            <a:schemeClr val="tx1"/>
          </a:solidFill>
          <a:latin typeface="+mj-lt"/>
          <a:ea typeface="+mj-ea"/>
          <a:cs typeface="+mj-cs"/>
        </a:defRPr>
      </a:lvl1pPr>
    </p:titleStyle>
    <p:bodyStyle>
      <a:lvl1pPr marL="362480" indent="-362480" algn="l" defTabSz="966612" rtl="0" eaLnBrk="1" latinLnBrk="0" hangingPunct="1">
        <a:spcBef>
          <a:spcPct val="20000"/>
        </a:spcBef>
        <a:buFont typeface="Arial" pitchFamily="34" charset="0"/>
        <a:buChar char="•"/>
        <a:defRPr sz="3400" kern="1200">
          <a:solidFill>
            <a:schemeClr val="tx1"/>
          </a:solidFill>
          <a:latin typeface="+mn-lt"/>
          <a:ea typeface="+mn-ea"/>
          <a:cs typeface="+mn-cs"/>
        </a:defRPr>
      </a:lvl1pPr>
      <a:lvl2pPr marL="785372" indent="-302066" algn="l" defTabSz="966612" rtl="0" eaLnBrk="1" latinLnBrk="0" hangingPunct="1">
        <a:spcBef>
          <a:spcPct val="20000"/>
        </a:spcBef>
        <a:buFont typeface="Arial" pitchFamily="34" charset="0"/>
        <a:buChar char="–"/>
        <a:defRPr sz="3000" kern="1200">
          <a:solidFill>
            <a:schemeClr val="tx1"/>
          </a:solidFill>
          <a:latin typeface="+mn-lt"/>
          <a:ea typeface="+mn-ea"/>
          <a:cs typeface="+mn-cs"/>
        </a:defRPr>
      </a:lvl2pPr>
      <a:lvl3pPr marL="1208265" indent="-241653" algn="l" defTabSz="966612" rtl="0" eaLnBrk="1" latinLnBrk="0" hangingPunct="1">
        <a:spcBef>
          <a:spcPct val="20000"/>
        </a:spcBef>
        <a:buFont typeface="Arial" pitchFamily="34" charset="0"/>
        <a:buChar char="•"/>
        <a:defRPr sz="2500" kern="1200">
          <a:solidFill>
            <a:schemeClr val="tx1"/>
          </a:solidFill>
          <a:latin typeface="+mn-lt"/>
          <a:ea typeface="+mn-ea"/>
          <a:cs typeface="+mn-cs"/>
        </a:defRPr>
      </a:lvl3pPr>
      <a:lvl4pPr marL="1691571" indent="-241653" algn="l" defTabSz="966612"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174878" indent="-241653" algn="l" defTabSz="966612"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58184" indent="-241653" algn="l" defTabSz="966612"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41490" indent="-241653" algn="l" defTabSz="966612"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624796" indent="-241653" algn="l" defTabSz="966612"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108102" indent="-241653" algn="l" defTabSz="966612"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66612" rtl="0" eaLnBrk="1" latinLnBrk="0" hangingPunct="1">
        <a:defRPr sz="1900" kern="1200">
          <a:solidFill>
            <a:schemeClr val="tx1"/>
          </a:solidFill>
          <a:latin typeface="+mn-lt"/>
          <a:ea typeface="+mn-ea"/>
          <a:cs typeface="+mn-cs"/>
        </a:defRPr>
      </a:lvl1pPr>
      <a:lvl2pPr marL="483306" algn="l" defTabSz="966612" rtl="0" eaLnBrk="1" latinLnBrk="0" hangingPunct="1">
        <a:defRPr sz="1900" kern="1200">
          <a:solidFill>
            <a:schemeClr val="tx1"/>
          </a:solidFill>
          <a:latin typeface="+mn-lt"/>
          <a:ea typeface="+mn-ea"/>
          <a:cs typeface="+mn-cs"/>
        </a:defRPr>
      </a:lvl2pPr>
      <a:lvl3pPr marL="966612" algn="l" defTabSz="966612" rtl="0" eaLnBrk="1" latinLnBrk="0" hangingPunct="1">
        <a:defRPr sz="1900" kern="1200">
          <a:solidFill>
            <a:schemeClr val="tx1"/>
          </a:solidFill>
          <a:latin typeface="+mn-lt"/>
          <a:ea typeface="+mn-ea"/>
          <a:cs typeface="+mn-cs"/>
        </a:defRPr>
      </a:lvl3pPr>
      <a:lvl4pPr marL="1449918" algn="l" defTabSz="966612" rtl="0" eaLnBrk="1" latinLnBrk="0" hangingPunct="1">
        <a:defRPr sz="1900" kern="1200">
          <a:solidFill>
            <a:schemeClr val="tx1"/>
          </a:solidFill>
          <a:latin typeface="+mn-lt"/>
          <a:ea typeface="+mn-ea"/>
          <a:cs typeface="+mn-cs"/>
        </a:defRPr>
      </a:lvl4pPr>
      <a:lvl5pPr marL="1933224" algn="l" defTabSz="966612" rtl="0" eaLnBrk="1" latinLnBrk="0" hangingPunct="1">
        <a:defRPr sz="1900" kern="1200">
          <a:solidFill>
            <a:schemeClr val="tx1"/>
          </a:solidFill>
          <a:latin typeface="+mn-lt"/>
          <a:ea typeface="+mn-ea"/>
          <a:cs typeface="+mn-cs"/>
        </a:defRPr>
      </a:lvl5pPr>
      <a:lvl6pPr marL="2416531" algn="l" defTabSz="966612" rtl="0" eaLnBrk="1" latinLnBrk="0" hangingPunct="1">
        <a:defRPr sz="1900" kern="1200">
          <a:solidFill>
            <a:schemeClr val="tx1"/>
          </a:solidFill>
          <a:latin typeface="+mn-lt"/>
          <a:ea typeface="+mn-ea"/>
          <a:cs typeface="+mn-cs"/>
        </a:defRPr>
      </a:lvl6pPr>
      <a:lvl7pPr marL="2899837" algn="l" defTabSz="966612" rtl="0" eaLnBrk="1" latinLnBrk="0" hangingPunct="1">
        <a:defRPr sz="1900" kern="1200">
          <a:solidFill>
            <a:schemeClr val="tx1"/>
          </a:solidFill>
          <a:latin typeface="+mn-lt"/>
          <a:ea typeface="+mn-ea"/>
          <a:cs typeface="+mn-cs"/>
        </a:defRPr>
      </a:lvl7pPr>
      <a:lvl8pPr marL="3383143" algn="l" defTabSz="966612" rtl="0" eaLnBrk="1" latinLnBrk="0" hangingPunct="1">
        <a:defRPr sz="1900" kern="1200">
          <a:solidFill>
            <a:schemeClr val="tx1"/>
          </a:solidFill>
          <a:latin typeface="+mn-lt"/>
          <a:ea typeface="+mn-ea"/>
          <a:cs typeface="+mn-cs"/>
        </a:defRPr>
      </a:lvl8pPr>
      <a:lvl9pPr marL="3866449" algn="l" defTabSz="966612"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000"/>
            <a:lum/>
          </a:blip>
          <a:srcRect/>
          <a:stretch>
            <a:fillRect t="-10000" b="-10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98220" y="64994"/>
            <a:ext cx="8823960" cy="1371600"/>
          </a:xfrm>
        </p:spPr>
        <p:txBody>
          <a:bodyPr>
            <a:noAutofit/>
          </a:bodyPr>
          <a:lstStyle/>
          <a:p>
            <a:br>
              <a:rPr lang="en-US" sz="3200" b="1" dirty="0">
                <a:effectLst>
                  <a:outerShdw blurRad="38100" dist="38100" dir="2700000" algn="tl">
                    <a:srgbClr val="000000">
                      <a:alpha val="43137"/>
                    </a:srgbClr>
                  </a:outerShdw>
                </a:effectLst>
              </a:rPr>
            </a:br>
            <a:r>
              <a:rPr lang="en-US" sz="3200" b="1" u="sng" dirty="0">
                <a:solidFill>
                  <a:schemeClr val="accent1">
                    <a:lumMod val="50000"/>
                  </a:schemeClr>
                </a:solidFill>
                <a:effectLst>
                  <a:outerShdw blurRad="38100" dist="38100" dir="2700000" algn="tl">
                    <a:srgbClr val="000000">
                      <a:alpha val="43137"/>
                    </a:srgbClr>
                  </a:outerShdw>
                </a:effectLst>
              </a:rPr>
              <a:t>MADAN MOHAN MALAVIYA UNIVERSITY OF TECHNOLOGY - GORAKHPUR</a:t>
            </a:r>
          </a:p>
        </p:txBody>
      </p:sp>
      <p:sp>
        <p:nvSpPr>
          <p:cNvPr id="3" name="Text Placeholder 2"/>
          <p:cNvSpPr>
            <a:spLocks noGrp="1"/>
          </p:cNvSpPr>
          <p:nvPr>
            <p:ph type="body" idx="1"/>
          </p:nvPr>
        </p:nvSpPr>
        <p:spPr>
          <a:xfrm>
            <a:off x="0" y="1905000"/>
            <a:ext cx="10972800" cy="1524000"/>
          </a:xfrm>
        </p:spPr>
        <p:txBody>
          <a:bodyPr>
            <a:noAutofit/>
          </a:bodyPr>
          <a:lstStyle/>
          <a:p>
            <a:pPr algn="ctr"/>
            <a:r>
              <a:rPr lang="en-US" sz="2900" u="sng" dirty="0"/>
              <a:t>DEPARTMENT OF COMPUTER SCIENCE AND ENGINEERING</a:t>
            </a:r>
          </a:p>
          <a:p>
            <a:pPr algn="ctr"/>
            <a:r>
              <a:rPr lang="en-US" sz="2900" u="sng" dirty="0"/>
              <a:t>Session : 2023-2024</a:t>
            </a:r>
          </a:p>
        </p:txBody>
      </p:sp>
      <p:sp>
        <p:nvSpPr>
          <p:cNvPr id="4" name="Content Placeholder 3"/>
          <p:cNvSpPr>
            <a:spLocks noGrp="1"/>
          </p:cNvSpPr>
          <p:nvPr>
            <p:ph sz="half" idx="2"/>
          </p:nvPr>
        </p:nvSpPr>
        <p:spPr>
          <a:xfrm>
            <a:off x="5410200" y="5334000"/>
            <a:ext cx="4343400" cy="1788160"/>
          </a:xfrm>
        </p:spPr>
        <p:txBody>
          <a:bodyPr>
            <a:normAutofit fontScale="92500"/>
          </a:bodyPr>
          <a:lstStyle/>
          <a:p>
            <a:pPr>
              <a:buNone/>
            </a:pPr>
            <a:r>
              <a:rPr lang="en-US" sz="2400" b="1" dirty="0">
                <a:solidFill>
                  <a:srgbClr val="021127"/>
                </a:solidFill>
                <a:latin typeface="Times New Roman"/>
                <a:ea typeface="Times New Roman"/>
                <a:cs typeface="Times New Roman"/>
                <a:sym typeface="Times New Roman"/>
              </a:rPr>
              <a:t>   UNDER THE GUIDANCE OF -</a:t>
            </a:r>
          </a:p>
          <a:p>
            <a:pPr>
              <a:buNone/>
            </a:pPr>
            <a:r>
              <a:rPr lang="en-US" sz="3200" b="1" dirty="0">
                <a:solidFill>
                  <a:srgbClr val="FF0000"/>
                </a:solidFill>
              </a:rPr>
              <a:t>         </a:t>
            </a:r>
            <a:r>
              <a:rPr lang="en-US" sz="1800" b="1" dirty="0">
                <a:solidFill>
                  <a:srgbClr val="C00000"/>
                </a:solidFill>
                <a:latin typeface="Times New Roman" pitchFamily="18" charset="0"/>
                <a:cs typeface="Times New Roman" pitchFamily="18" charset="0"/>
              </a:rPr>
              <a:t>MR. SUSHIL KUMAR SAROJ</a:t>
            </a:r>
          </a:p>
          <a:p>
            <a:pPr>
              <a:buNone/>
            </a:pPr>
            <a:r>
              <a:rPr lang="en-US" sz="1800" b="1" dirty="0">
                <a:solidFill>
                  <a:srgbClr val="C00000"/>
                </a:solidFill>
                <a:latin typeface="Times New Roman" pitchFamily="18" charset="0"/>
                <a:cs typeface="Times New Roman" pitchFamily="18" charset="0"/>
              </a:rPr>
              <a:t>              ASSISSTANT  PROFESSOR</a:t>
            </a:r>
          </a:p>
          <a:p>
            <a:pPr>
              <a:buNone/>
            </a:pPr>
            <a:r>
              <a:rPr lang="en-US" sz="1800" b="1" dirty="0">
                <a:solidFill>
                  <a:srgbClr val="C00000"/>
                </a:solidFill>
                <a:latin typeface="Times New Roman" pitchFamily="18" charset="0"/>
                <a:cs typeface="Times New Roman" pitchFamily="18" charset="0"/>
              </a:rPr>
              <a:t>                  DEPT. OF  CSE, MMMUT</a:t>
            </a:r>
          </a:p>
          <a:p>
            <a:pPr>
              <a:buNone/>
            </a:pPr>
            <a:endParaRPr lang="en-US" sz="2100" b="1" dirty="0"/>
          </a:p>
        </p:txBody>
      </p:sp>
      <p:sp>
        <p:nvSpPr>
          <p:cNvPr id="6" name="Content Placeholder 5"/>
          <p:cNvSpPr>
            <a:spLocks noGrp="1"/>
          </p:cNvSpPr>
          <p:nvPr>
            <p:ph sz="quarter" idx="4"/>
          </p:nvPr>
        </p:nvSpPr>
        <p:spPr>
          <a:xfrm>
            <a:off x="381000" y="5334000"/>
            <a:ext cx="4572000" cy="1752600"/>
          </a:xfrm>
        </p:spPr>
        <p:txBody>
          <a:bodyPr>
            <a:normAutofit fontScale="92500"/>
          </a:bodyPr>
          <a:lstStyle/>
          <a:p>
            <a:pPr marL="0" indent="0">
              <a:buNone/>
            </a:pPr>
            <a:r>
              <a:rPr lang="en-US" b="1" dirty="0">
                <a:latin typeface="Times New Roman" pitchFamily="18" charset="0"/>
                <a:cs typeface="Times New Roman" pitchFamily="18" charset="0"/>
              </a:rPr>
              <a:t>             PRESENTED BY -</a:t>
            </a:r>
          </a:p>
          <a:p>
            <a:pPr marL="483306" indent="-483306" algn="ctr">
              <a:buNone/>
            </a:pPr>
            <a:r>
              <a:rPr lang="en-US" sz="1800" b="1" dirty="0">
                <a:solidFill>
                  <a:srgbClr val="C00000"/>
                </a:solidFill>
                <a:latin typeface="Times New Roman" pitchFamily="18" charset="0"/>
                <a:cs typeface="Times New Roman" pitchFamily="18" charset="0"/>
              </a:rPr>
              <a:t>AMAN MATHUR</a:t>
            </a:r>
            <a:r>
              <a:rPr kumimoji="0" lang="en-US" sz="1800" b="1" i="0" u="none" strike="noStrike" kern="1200" cap="none" spc="0" normalizeH="0" baseline="0" noProof="0" dirty="0">
                <a:ln>
                  <a:noFill/>
                </a:ln>
                <a:solidFill>
                  <a:srgbClr val="C00000"/>
                </a:solidFill>
                <a:effectLst/>
                <a:uLnTx/>
                <a:uFillTx/>
                <a:latin typeface="Times New Roman" pitchFamily="18" charset="0"/>
                <a:ea typeface="+mn-ea"/>
                <a:cs typeface="Times New Roman" pitchFamily="18" charset="0"/>
              </a:rPr>
              <a:t>(2020021023)</a:t>
            </a:r>
            <a:r>
              <a:rPr lang="en-US" b="1" dirty="0">
                <a:latin typeface="Times New Roman" pitchFamily="18" charset="0"/>
                <a:cs typeface="Times New Roman" pitchFamily="18" charset="0"/>
              </a:rPr>
              <a:t>   </a:t>
            </a:r>
          </a:p>
          <a:p>
            <a:pPr marL="483306" indent="-483306" algn="ctr">
              <a:buNone/>
            </a:pPr>
            <a:r>
              <a:rPr lang="en-US" sz="1800" b="1" dirty="0">
                <a:solidFill>
                  <a:srgbClr val="C00000"/>
                </a:solidFill>
                <a:latin typeface="Times New Roman" pitchFamily="18" charset="0"/>
                <a:cs typeface="Times New Roman" pitchFamily="18" charset="0"/>
              </a:rPr>
              <a:t>ARNISH VERMA (2020021031)</a:t>
            </a:r>
          </a:p>
          <a:p>
            <a:pPr marL="483306" indent="-483306" algn="ctr">
              <a:buNone/>
            </a:pPr>
            <a:r>
              <a:rPr lang="en-US" sz="1800" b="1" dirty="0">
                <a:solidFill>
                  <a:srgbClr val="C00000"/>
                </a:solidFill>
                <a:latin typeface="Times New Roman" pitchFamily="18" charset="0"/>
                <a:cs typeface="Times New Roman" pitchFamily="18" charset="0"/>
              </a:rPr>
              <a:t>KISHAN KUMAR JAISWAL(2020021071)</a:t>
            </a:r>
            <a:endParaRPr lang="en-US" dirty="0">
              <a:solidFill>
                <a:srgbClr val="C00000"/>
              </a:solidFill>
              <a:latin typeface="+mj-lt"/>
            </a:endParaRPr>
          </a:p>
        </p:txBody>
      </p:sp>
      <p:pic>
        <p:nvPicPr>
          <p:cNvPr id="3074" name="Picture 2" descr="C:\Users\hp\Downloads\WhatsApp Image 2022-03-24 at 10.39.57 PM.jpeg"/>
          <p:cNvPicPr>
            <a:picLocks noChangeAspect="1" noChangeArrowheads="1"/>
          </p:cNvPicPr>
          <p:nvPr/>
        </p:nvPicPr>
        <p:blipFill>
          <a:blip r:embed="rId3"/>
          <a:srcRect/>
          <a:stretch>
            <a:fillRect/>
          </a:stretch>
        </p:blipFill>
        <p:spPr bwMode="auto">
          <a:xfrm>
            <a:off x="9207062" y="38100"/>
            <a:ext cx="1765738" cy="1600200"/>
          </a:xfrm>
          <a:prstGeom prst="rect">
            <a:avLst/>
          </a:prstGeom>
          <a:noFill/>
        </p:spPr>
      </p:pic>
      <p:sp>
        <p:nvSpPr>
          <p:cNvPr id="7" name="TextBox 6">
            <a:extLst>
              <a:ext uri="{FF2B5EF4-FFF2-40B4-BE49-F238E27FC236}">
                <a16:creationId xmlns:a16="http://schemas.microsoft.com/office/drawing/2014/main" id="{26D96200-8F77-C543-EABF-CA6D1EE0D02B}"/>
              </a:ext>
            </a:extLst>
          </p:cNvPr>
          <p:cNvSpPr txBox="1"/>
          <p:nvPr/>
        </p:nvSpPr>
        <p:spPr>
          <a:xfrm>
            <a:off x="609600" y="3810000"/>
            <a:ext cx="9814560" cy="892552"/>
          </a:xfrm>
          <a:prstGeom prst="rect">
            <a:avLst/>
          </a:prstGeom>
          <a:noFill/>
        </p:spPr>
        <p:txBody>
          <a:bodyPr wrap="square" rtlCol="0">
            <a:spAutoFit/>
          </a:bodyPr>
          <a:lstStyle/>
          <a:p>
            <a:pPr algn="ctr"/>
            <a:r>
              <a:rPr lang="en-US" sz="2600" b="1" dirty="0">
                <a:solidFill>
                  <a:srgbClr val="C00000"/>
                </a:solidFill>
              </a:rPr>
              <a:t> </a:t>
            </a:r>
            <a:r>
              <a:rPr lang="en-US" sz="2600" b="1" u="sng" dirty="0">
                <a:solidFill>
                  <a:srgbClr val="C00000"/>
                </a:solidFill>
              </a:rPr>
              <a:t>HEART DISEASE PREDICTION SYSTEM USING MACHINE LEARNING</a:t>
            </a:r>
          </a:p>
          <a:p>
            <a:pPr algn="ctr"/>
            <a:endParaRPr lang="en-IN" sz="2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95202"/>
            <a:ext cx="10972800" cy="7856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0878" y="686364"/>
            <a:ext cx="10089833" cy="794492"/>
          </a:xfrm>
        </p:spPr>
        <p:txBody>
          <a:bodyPr vert="horz" lIns="91440" tIns="45720" rIns="91440" bIns="45720" rtlCol="0" anchor="ctr">
            <a:normAutofit/>
          </a:bodyPr>
          <a:lstStyle/>
          <a:p>
            <a:pPr defTabSz="914400">
              <a:lnSpc>
                <a:spcPct val="90000"/>
              </a:lnSpc>
            </a:pPr>
            <a:r>
              <a:rPr lang="en-US" sz="3100" b="1" u="sng" kern="1200">
                <a:solidFill>
                  <a:schemeClr val="bg1"/>
                </a:solidFill>
                <a:latin typeface="+mj-lt"/>
                <a:ea typeface="+mj-ea"/>
                <a:cs typeface="+mj-cs"/>
              </a:rPr>
              <a:t>TABLE OF CONTENTS</a:t>
            </a:r>
          </a:p>
        </p:txBody>
      </p:sp>
      <p:graphicFrame>
        <p:nvGraphicFramePr>
          <p:cNvPr id="4" name="Table 3"/>
          <p:cNvGraphicFramePr>
            <a:graphicFrameLocks noGrp="1"/>
          </p:cNvGraphicFramePr>
          <p:nvPr>
            <p:extLst>
              <p:ext uri="{D42A27DB-BD31-4B8C-83A1-F6EECF244321}">
                <p14:modId xmlns:p14="http://schemas.microsoft.com/office/powerpoint/2010/main" val="1086596138"/>
              </p:ext>
            </p:extLst>
          </p:nvPr>
        </p:nvGraphicFramePr>
        <p:xfrm>
          <a:off x="912380" y="1786908"/>
          <a:ext cx="9148040" cy="4687151"/>
        </p:xfrm>
        <a:graphic>
          <a:graphicData uri="http://schemas.openxmlformats.org/drawingml/2006/table">
            <a:tbl>
              <a:tblPr firstRow="1" lastRow="1" bandRow="1">
                <a:noFill/>
                <a:tableStyleId>{5940675A-B579-460E-94D1-54222C63F5DA}</a:tableStyleId>
              </a:tblPr>
              <a:tblGrid>
                <a:gridCol w="2457279">
                  <a:extLst>
                    <a:ext uri="{9D8B030D-6E8A-4147-A177-3AD203B41FA5}">
                      <a16:colId xmlns:a16="http://schemas.microsoft.com/office/drawing/2014/main" val="20000"/>
                    </a:ext>
                  </a:extLst>
                </a:gridCol>
                <a:gridCol w="6690761">
                  <a:extLst>
                    <a:ext uri="{9D8B030D-6E8A-4147-A177-3AD203B41FA5}">
                      <a16:colId xmlns:a16="http://schemas.microsoft.com/office/drawing/2014/main" val="20001"/>
                    </a:ext>
                  </a:extLst>
                </a:gridCol>
              </a:tblGrid>
              <a:tr h="603319">
                <a:tc>
                  <a:txBody>
                    <a:bodyPr/>
                    <a:lstStyle/>
                    <a:p>
                      <a:pPr algn="ctr"/>
                      <a:r>
                        <a:rPr lang="en-US" sz="2400" b="1" cap="none" spc="30" dirty="0">
                          <a:solidFill>
                            <a:schemeClr val="tx1"/>
                          </a:solidFill>
                          <a:latin typeface="Times New Roman" panose="02020603050405020304" pitchFamily="18" charset="0"/>
                          <a:cs typeface="Times New Roman" panose="02020603050405020304" pitchFamily="18" charset="0"/>
                        </a:rPr>
                        <a:t>S. No.</a:t>
                      </a:r>
                    </a:p>
                  </a:txBody>
                  <a:tcPr marL="0" marR="13926" marT="88128" marB="88128" anchor="ctr">
                    <a:lnL w="12700" cmpd="sng">
                      <a:noFill/>
                    </a:lnL>
                    <a:lnR w="12700" cmpd="sng">
                      <a:noFill/>
                    </a:lnR>
                    <a:lnT w="19050" cap="flat" cmpd="sng" algn="ctr">
                      <a:solidFill>
                        <a:schemeClr val="accent1"/>
                      </a:solidFill>
                      <a:prstDash val="solid"/>
                    </a:lnT>
                    <a:lnB w="38100" cmpd="sng">
                      <a:noFill/>
                    </a:lnB>
                    <a:noFill/>
                  </a:tcPr>
                </a:tc>
                <a:tc>
                  <a:txBody>
                    <a:bodyPr/>
                    <a:lstStyle/>
                    <a:p>
                      <a:pPr algn="ctr"/>
                      <a:r>
                        <a:rPr lang="en-US" sz="2400" b="1" cap="none" spc="30" dirty="0">
                          <a:solidFill>
                            <a:schemeClr val="tx1"/>
                          </a:solidFill>
                          <a:latin typeface="Times New Roman" panose="02020603050405020304" pitchFamily="18" charset="0"/>
                          <a:cs typeface="Times New Roman" panose="02020603050405020304" pitchFamily="18" charset="0"/>
                        </a:rPr>
                        <a:t>CONTENT</a:t>
                      </a:r>
                    </a:p>
                  </a:txBody>
                  <a:tcPr marL="0" marR="13926" marT="88128" marB="88128" anchor="ctr">
                    <a:lnL w="12700" cmpd="sng">
                      <a:noFill/>
                    </a:lnL>
                    <a:lnR w="12700" cmpd="sng">
                      <a:noFill/>
                    </a:lnR>
                    <a:lnT w="19050" cap="flat" cmpd="sng" algn="ctr">
                      <a:solidFill>
                        <a:schemeClr val="accent1"/>
                      </a:solidFill>
                      <a:prstDash val="solid"/>
                    </a:lnT>
                    <a:lnB w="38100" cmpd="sng">
                      <a:noFill/>
                    </a:lnB>
                    <a:noFill/>
                  </a:tcPr>
                </a:tc>
                <a:extLst>
                  <a:ext uri="{0D108BD9-81ED-4DB2-BD59-A6C34878D82A}">
                    <a16:rowId xmlns:a16="http://schemas.microsoft.com/office/drawing/2014/main" val="10000"/>
                  </a:ext>
                </a:extLst>
              </a:tr>
              <a:tr h="510479">
                <a:tc>
                  <a:txBody>
                    <a:bodyPr/>
                    <a:lstStyle/>
                    <a:p>
                      <a:pPr algn="ctr"/>
                      <a:r>
                        <a:rPr lang="en-US" sz="1800" b="1" cap="none" spc="0">
                          <a:solidFill>
                            <a:schemeClr val="tx1"/>
                          </a:solidFill>
                          <a:latin typeface="Times New Roman" panose="02020603050405020304" pitchFamily="18" charset="0"/>
                          <a:cs typeface="Times New Roman" panose="02020603050405020304" pitchFamily="18" charset="0"/>
                        </a:rPr>
                        <a:t>1.</a:t>
                      </a:r>
                    </a:p>
                  </a:txBody>
                  <a:tcPr marL="0" marR="176255" marT="88128" marB="88128">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cap="none" spc="0" dirty="0">
                          <a:solidFill>
                            <a:schemeClr val="tx1"/>
                          </a:solidFill>
                          <a:latin typeface="Times New Roman" panose="02020603050405020304" pitchFamily="18" charset="0"/>
                          <a:cs typeface="Times New Roman" panose="02020603050405020304" pitchFamily="18" charset="0"/>
                        </a:rPr>
                        <a:t>ABSTRACT</a:t>
                      </a:r>
                    </a:p>
                  </a:txBody>
                  <a:tcPr marL="0" marR="176255" marT="88128" marB="88128">
                    <a:lnL w="12700" cmpd="sng">
                      <a:noFill/>
                      <a:prstDash val="solid"/>
                    </a:lnL>
                    <a:lnR w="12700" cmpd="sng">
                      <a:noFill/>
                      <a:prstDash val="solid"/>
                    </a:lnR>
                    <a:lnT w="38100" cmpd="sng">
                      <a:noFill/>
                    </a:lnT>
                    <a:lnB w="9525" cap="flat" cmpd="sng" algn="ctr">
                      <a:solidFill>
                        <a:schemeClr val="accent1"/>
                      </a:solidFill>
                      <a:prstDash val="solid"/>
                    </a:lnB>
                    <a:noFill/>
                  </a:tcPr>
                </a:tc>
                <a:extLst>
                  <a:ext uri="{0D108BD9-81ED-4DB2-BD59-A6C34878D82A}">
                    <a16:rowId xmlns:a16="http://schemas.microsoft.com/office/drawing/2014/main" val="10001"/>
                  </a:ext>
                </a:extLst>
              </a:tr>
              <a:tr h="510479">
                <a:tc>
                  <a:txBody>
                    <a:bodyPr/>
                    <a:lstStyle/>
                    <a:p>
                      <a:pPr algn="ctr"/>
                      <a:r>
                        <a:rPr lang="en-US" sz="1800" b="1" cap="none" spc="0" dirty="0">
                          <a:solidFill>
                            <a:schemeClr val="tx1"/>
                          </a:solidFill>
                          <a:latin typeface="Times New Roman" panose="02020603050405020304" pitchFamily="18" charset="0"/>
                          <a:cs typeface="Times New Roman" panose="02020603050405020304" pitchFamily="18" charset="0"/>
                        </a:rPr>
                        <a:t>2.</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cap="none" spc="0">
                          <a:solidFill>
                            <a:schemeClr val="tx1"/>
                          </a:solidFill>
                          <a:latin typeface="Times New Roman" panose="02020603050405020304" pitchFamily="18" charset="0"/>
                          <a:cs typeface="Times New Roman" panose="02020603050405020304" pitchFamily="18" charset="0"/>
                        </a:rPr>
                        <a:t>LITERATURE SURVEY</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2"/>
                  </a:ext>
                </a:extLst>
              </a:tr>
              <a:tr h="510479">
                <a:tc>
                  <a:txBody>
                    <a:bodyPr/>
                    <a:lstStyle/>
                    <a:p>
                      <a:pPr algn="ctr"/>
                      <a:r>
                        <a:rPr lang="en-US" sz="1800" b="1" cap="none" spc="0">
                          <a:solidFill>
                            <a:schemeClr val="tx1"/>
                          </a:solidFill>
                          <a:latin typeface="Times New Roman" panose="02020603050405020304" pitchFamily="18" charset="0"/>
                          <a:cs typeface="Times New Roman" panose="02020603050405020304" pitchFamily="18" charset="0"/>
                        </a:rPr>
                        <a:t>3.</a:t>
                      </a:r>
                    </a:p>
                  </a:txBody>
                  <a:tcPr marL="0" marR="176255" marT="88128" marB="88128">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cap="none" spc="0">
                          <a:solidFill>
                            <a:schemeClr val="tx1"/>
                          </a:solidFill>
                          <a:latin typeface="Times New Roman" panose="02020603050405020304" pitchFamily="18" charset="0"/>
                          <a:cs typeface="Times New Roman" panose="02020603050405020304" pitchFamily="18" charset="0"/>
                        </a:rPr>
                        <a:t>PROBLEM DEFINITION</a:t>
                      </a:r>
                    </a:p>
                  </a:txBody>
                  <a:tcPr marL="0" marR="176255" marT="88128" marB="88128">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0003"/>
                  </a:ext>
                </a:extLst>
              </a:tr>
              <a:tr h="510479">
                <a:tc>
                  <a:txBody>
                    <a:bodyPr/>
                    <a:lstStyle/>
                    <a:p>
                      <a:pPr algn="ctr"/>
                      <a:r>
                        <a:rPr lang="en-US" sz="1800" b="1" cap="none" spc="0">
                          <a:solidFill>
                            <a:schemeClr val="tx1"/>
                          </a:solidFill>
                          <a:latin typeface="Times New Roman" panose="02020603050405020304" pitchFamily="18" charset="0"/>
                          <a:cs typeface="Times New Roman" panose="02020603050405020304" pitchFamily="18" charset="0"/>
                        </a:rPr>
                        <a:t>4.</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cap="none" spc="0">
                          <a:solidFill>
                            <a:schemeClr val="tx1"/>
                          </a:solidFill>
                          <a:latin typeface="Times New Roman" panose="02020603050405020304" pitchFamily="18" charset="0"/>
                          <a:cs typeface="Times New Roman" panose="02020603050405020304" pitchFamily="18" charset="0"/>
                        </a:rPr>
                        <a:t>SOLUTION STRATERGY</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4"/>
                  </a:ext>
                </a:extLst>
              </a:tr>
              <a:tr h="510479">
                <a:tc>
                  <a:txBody>
                    <a:bodyPr/>
                    <a:lstStyle/>
                    <a:p>
                      <a:pPr algn="ctr"/>
                      <a:r>
                        <a:rPr lang="en-US" sz="1800" b="1" cap="none" spc="0">
                          <a:solidFill>
                            <a:schemeClr val="tx1"/>
                          </a:solidFill>
                          <a:latin typeface="Times New Roman" panose="02020603050405020304" pitchFamily="18" charset="0"/>
                          <a:cs typeface="Times New Roman" panose="02020603050405020304" pitchFamily="18" charset="0"/>
                        </a:rPr>
                        <a:t>5.</a:t>
                      </a:r>
                    </a:p>
                  </a:txBody>
                  <a:tcPr marL="0" marR="176255" marT="88128" marB="88128">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cap="none" spc="0" dirty="0">
                          <a:solidFill>
                            <a:schemeClr val="tx1"/>
                          </a:solidFill>
                          <a:latin typeface="Times New Roman" panose="02020603050405020304" pitchFamily="18" charset="0"/>
                          <a:cs typeface="Times New Roman" panose="02020603050405020304" pitchFamily="18" charset="0"/>
                        </a:rPr>
                        <a:t>METHODOLOGY</a:t>
                      </a:r>
                    </a:p>
                  </a:txBody>
                  <a:tcPr marL="0" marR="176255" marT="88128" marB="88128">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0005"/>
                  </a:ext>
                </a:extLst>
              </a:tr>
              <a:tr h="510479">
                <a:tc>
                  <a:txBody>
                    <a:bodyPr/>
                    <a:lstStyle/>
                    <a:p>
                      <a:pPr algn="ctr"/>
                      <a:r>
                        <a:rPr lang="en-US" sz="1800" b="1" cap="none" spc="0">
                          <a:solidFill>
                            <a:schemeClr val="tx1"/>
                          </a:solidFill>
                          <a:latin typeface="Times New Roman" panose="02020603050405020304" pitchFamily="18" charset="0"/>
                          <a:cs typeface="Times New Roman" panose="02020603050405020304" pitchFamily="18" charset="0"/>
                        </a:rPr>
                        <a:t>6.</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cap="none" spc="0">
                          <a:solidFill>
                            <a:schemeClr val="tx1"/>
                          </a:solidFill>
                          <a:latin typeface="Times New Roman" panose="02020603050405020304" pitchFamily="18" charset="0"/>
                          <a:cs typeface="Times New Roman" panose="02020603050405020304" pitchFamily="18" charset="0"/>
                        </a:rPr>
                        <a:t>IMPLEMENTATION</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6"/>
                  </a:ext>
                </a:extLst>
              </a:tr>
              <a:tr h="510479">
                <a:tc>
                  <a:txBody>
                    <a:bodyPr/>
                    <a:lstStyle/>
                    <a:p>
                      <a:pPr algn="ctr"/>
                      <a:r>
                        <a:rPr lang="en-US" sz="1800" b="1" cap="none" spc="0">
                          <a:solidFill>
                            <a:schemeClr val="tx1"/>
                          </a:solidFill>
                          <a:latin typeface="Times New Roman" panose="02020603050405020304" pitchFamily="18" charset="0"/>
                          <a:cs typeface="Times New Roman" panose="02020603050405020304" pitchFamily="18" charset="0"/>
                        </a:rPr>
                        <a:t>7.</a:t>
                      </a:r>
                    </a:p>
                  </a:txBody>
                  <a:tcPr marL="0" marR="176255" marT="88128" marB="88128">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cap="none" spc="0" dirty="0">
                          <a:solidFill>
                            <a:schemeClr val="tx1"/>
                          </a:solidFill>
                          <a:latin typeface="Times New Roman" panose="02020603050405020304" pitchFamily="18" charset="0"/>
                          <a:cs typeface="Times New Roman" panose="02020603050405020304" pitchFamily="18" charset="0"/>
                        </a:rPr>
                        <a:t>RESULTS</a:t>
                      </a:r>
                    </a:p>
                  </a:txBody>
                  <a:tcPr marL="0" marR="176255" marT="88128" marB="88128">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0007"/>
                  </a:ext>
                </a:extLst>
              </a:tr>
              <a:tr h="510479">
                <a:tc>
                  <a:txBody>
                    <a:bodyPr/>
                    <a:lstStyle/>
                    <a:p>
                      <a:pPr algn="ctr"/>
                      <a:r>
                        <a:rPr lang="en-US" sz="1800" b="1" cap="none" spc="0">
                          <a:solidFill>
                            <a:schemeClr val="tx1"/>
                          </a:solidFill>
                          <a:latin typeface="Times New Roman" panose="02020603050405020304" pitchFamily="18" charset="0"/>
                          <a:cs typeface="Times New Roman" panose="02020603050405020304" pitchFamily="18" charset="0"/>
                        </a:rPr>
                        <a:t>8.</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cap="none" spc="0" dirty="0">
                          <a:solidFill>
                            <a:schemeClr val="tx1"/>
                          </a:solidFill>
                          <a:latin typeface="Times New Roman" panose="02020603050405020304" pitchFamily="18" charset="0"/>
                          <a:cs typeface="Times New Roman" panose="02020603050405020304" pitchFamily="18" charset="0"/>
                        </a:rPr>
                        <a:t>CONCLUSION</a:t>
                      </a:r>
                    </a:p>
                  </a:txBody>
                  <a:tcPr marL="69630" marR="176255" marT="88128" marB="88128">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09887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6000"/>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2781" y="-26894"/>
            <a:ext cx="9875520" cy="1219200"/>
          </a:xfrm>
        </p:spPr>
        <p:txBody>
          <a:bodyPr>
            <a:normAutofit/>
          </a:bodyPr>
          <a:lstStyle/>
          <a:p>
            <a:r>
              <a:rPr lang="en-US" sz="4000" b="1" u="sng" dirty="0">
                <a:latin typeface="Times New Roman" pitchFamily="18" charset="0"/>
                <a:cs typeface="Times New Roman" pitchFamily="18" charset="0"/>
              </a:rPr>
              <a:t>INTRODUCTION</a:t>
            </a:r>
          </a:p>
        </p:txBody>
      </p:sp>
      <p:sp>
        <p:nvSpPr>
          <p:cNvPr id="3" name="Content Placeholder 2"/>
          <p:cNvSpPr>
            <a:spLocks noGrp="1"/>
          </p:cNvSpPr>
          <p:nvPr>
            <p:ph idx="1"/>
          </p:nvPr>
        </p:nvSpPr>
        <p:spPr>
          <a:xfrm>
            <a:off x="304800" y="1066800"/>
            <a:ext cx="10363199" cy="5791200"/>
          </a:xfrm>
        </p:spPr>
        <p:txBody>
          <a:bodyPr>
            <a:normAutofit/>
          </a:bodyPr>
          <a:lstStyle/>
          <a:p>
            <a:pPr>
              <a:buFont typeface="Wingdings" pitchFamily="2" charset="2"/>
              <a:buChar char="Ø"/>
            </a:pPr>
            <a:r>
              <a:rPr lang="en-US" sz="2000" dirty="0">
                <a:latin typeface="Times New Roman" pitchFamily="18" charset="0"/>
                <a:cs typeface="Times New Roman" pitchFamily="18" charset="0"/>
              </a:rPr>
              <a:t>Heart diseases is a term covering any disorder of the heart.</a:t>
            </a:r>
          </a:p>
          <a:p>
            <a:pPr marL="0" indent="0">
              <a:buNone/>
            </a:pPr>
            <a:endParaRPr lang="en-US" sz="2000" dirty="0">
              <a:latin typeface="Times New Roman" pitchFamily="18" charset="0"/>
              <a:cs typeface="Times New Roman" pitchFamily="18" charset="0"/>
            </a:endParaRPr>
          </a:p>
          <a:p>
            <a:pPr>
              <a:buFont typeface="Wingdings" pitchFamily="2" charset="2"/>
              <a:buChar char="Ø"/>
            </a:pPr>
            <a:r>
              <a:rPr lang="en-US" sz="2000" dirty="0">
                <a:latin typeface="Times New Roman" pitchFamily="18" charset="0"/>
                <a:cs typeface="Times New Roman" pitchFamily="18" charset="0"/>
              </a:rPr>
              <a:t>Studies show that the number of deaths due to heart diseases have increased significantly over the past few decades. Thus, preventing Heart diseases has become more than necessary. </a:t>
            </a:r>
          </a:p>
          <a:p>
            <a:pPr marL="0" indent="0">
              <a:buNone/>
            </a:pPr>
            <a:endParaRPr lang="en-US" sz="2000" dirty="0">
              <a:latin typeface="Times New Roman" pitchFamily="18" charset="0"/>
              <a:cs typeface="Times New Roman" pitchFamily="18" charset="0"/>
            </a:endParaRPr>
          </a:p>
          <a:p>
            <a:pPr>
              <a:buFont typeface="Wingdings" pitchFamily="2" charset="2"/>
              <a:buChar char="Ø"/>
            </a:pPr>
            <a:r>
              <a:rPr lang="en-US" sz="2000" dirty="0">
                <a:latin typeface="Times New Roman" pitchFamily="18" charset="0"/>
                <a:cs typeface="Times New Roman" pitchFamily="18" charset="0"/>
              </a:rPr>
              <a:t>Good data-driven systems for predicting heart diseases can improve the entire research and prevention process.</a:t>
            </a:r>
          </a:p>
          <a:p>
            <a:pPr>
              <a:buFont typeface="Wingdings" pitchFamily="2" charset="2"/>
              <a:buChar char="Ø"/>
            </a:pPr>
            <a:endParaRPr lang="en-US" sz="2000" dirty="0">
              <a:latin typeface="Times New Roman" pitchFamily="18" charset="0"/>
              <a:cs typeface="Times New Roman" pitchFamily="18" charset="0"/>
            </a:endParaRPr>
          </a:p>
          <a:p>
            <a:pPr>
              <a:buFont typeface="Wingdings" pitchFamily="2" charset="2"/>
              <a:buChar char="Ø"/>
            </a:pPr>
            <a:r>
              <a:rPr lang="en-US" sz="2000" dirty="0">
                <a:latin typeface="Times New Roman" pitchFamily="18" charset="0"/>
                <a:cs typeface="Times New Roman" pitchFamily="18" charset="0"/>
              </a:rPr>
              <a:t>A person dies in every 33 seconds in the United States from heart related disease.</a:t>
            </a:r>
          </a:p>
          <a:p>
            <a:pPr marL="0" indent="0">
              <a:buNone/>
            </a:pPr>
            <a:endParaRPr lang="en-US" sz="2000" dirty="0">
              <a:latin typeface="Times New Roman" pitchFamily="18" charset="0"/>
              <a:cs typeface="Times New Roman" pitchFamily="18" charset="0"/>
            </a:endParaRPr>
          </a:p>
          <a:p>
            <a:pPr>
              <a:buFont typeface="Wingdings" pitchFamily="2" charset="2"/>
              <a:buChar char="Ø"/>
            </a:pPr>
            <a:r>
              <a:rPr lang="en-US" sz="2000" dirty="0">
                <a:latin typeface="Times New Roman" pitchFamily="18" charset="0"/>
                <a:cs typeface="Times New Roman" pitchFamily="18" charset="0"/>
              </a:rPr>
              <a:t>Cardiovascular diseases (CVDs) are the leading cause of death globally, taking an estimated 17.9 million lives each year. The annual number of deaths from CVD in India is projected to rise from 2.26 million (1990) to 4.77 million (2020). Coronary heart disease prevalence rates in India have been estimated over the past several decades and have ranged from 1.6% to 7.4% in rural populations and from 1% to 13.2% in urban population.</a:t>
            </a:r>
            <a:endParaRPr lang="en-US" sz="2000" dirty="0">
              <a:solidFill>
                <a:schemeClr val="tx2">
                  <a:lumMod val="75000"/>
                </a:schemeClr>
              </a:solidFill>
              <a:latin typeface="Times New Roman" pitchFamily="18" charset="0"/>
              <a:cs typeface="Times New Roman" pitchFamily="18" charset="0"/>
            </a:endParaRPr>
          </a:p>
          <a:p>
            <a:pPr marL="0" indent="0">
              <a:lnSpc>
                <a:spcPct val="110000"/>
              </a:lnSpc>
              <a:buNone/>
            </a:pPr>
            <a:endParaRPr lang="en-US" sz="2800" b="1" dirty="0">
              <a:solidFill>
                <a:schemeClr val="accent1">
                  <a:lumMod val="75000"/>
                </a:schemeClr>
              </a:solidFill>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14A5AB-0CED-C6E4-6D9F-7B4FC12EE3AC}"/>
              </a:ext>
            </a:extLst>
          </p:cNvPr>
          <p:cNvSpPr>
            <a:spLocks noGrp="1"/>
          </p:cNvSpPr>
          <p:nvPr>
            <p:ph idx="1"/>
          </p:nvPr>
        </p:nvSpPr>
        <p:spPr>
          <a:xfrm>
            <a:off x="548640" y="228600"/>
            <a:ext cx="9875520" cy="6305975"/>
          </a:xfrm>
        </p:spPr>
        <p:txBody>
          <a:bodyPr/>
          <a:lstStyle/>
          <a:p>
            <a:pPr marL="362480" marR="0" lvl="0" indent="-362480" algn="l" defTabSz="966612"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The number of deaths due to heart attacks in India has remained consistently over 25000 in the last 4 years and over 28000 in last 3 years.</a:t>
            </a:r>
          </a:p>
          <a:p>
            <a:pPr marL="0" marR="0" lvl="0" indent="0" algn="l" defTabSz="966612" rtl="0" eaLnBrk="1" fontAlgn="auto" latinLnBrk="0" hangingPunct="1">
              <a:lnSpc>
                <a:spcPct val="100000"/>
              </a:lnSpc>
              <a:spcBef>
                <a:spcPct val="20000"/>
              </a:spcBef>
              <a:spcAft>
                <a:spcPts val="0"/>
              </a:spcAft>
              <a:buClrTx/>
              <a:buSzTx/>
              <a:buNone/>
              <a:tabLst/>
              <a:defRPr/>
            </a:pPr>
            <a:endParaRPr lang="en-US" sz="2000" dirty="0">
              <a:solidFill>
                <a:prstClr val="black"/>
              </a:solidFill>
              <a:latin typeface="Times New Roman" pitchFamily="18" charset="0"/>
              <a:cs typeface="Times New Roman" pitchFamily="18" charset="0"/>
            </a:endParaRPr>
          </a:p>
          <a:p>
            <a:pPr marL="362480" marR="0" lvl="0" indent="-362480" algn="l" defTabSz="966612"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We should talk more about preserving heart health. In India, cardiovascular diseases account for more than 26 per cent of all deaths. Poor heart health is a leading cause of shortening of lifespan and increasing mortality rates.</a:t>
            </a:r>
          </a:p>
          <a:p>
            <a:pPr marL="0" marR="0" lvl="0" indent="0" algn="l" defTabSz="966612" rtl="0" eaLnBrk="1" fontAlgn="auto" latinLnBrk="0" hangingPunct="1">
              <a:lnSpc>
                <a:spcPct val="100000"/>
              </a:lnSpc>
              <a:spcBef>
                <a:spcPct val="20000"/>
              </a:spcBef>
              <a:spcAft>
                <a:spcPts val="0"/>
              </a:spcAft>
              <a:buClrTx/>
              <a:buSzTx/>
              <a:buNone/>
              <a:tabLst/>
              <a:defRPr/>
            </a:pPr>
            <a:endPar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62480" marR="0" lvl="0" indent="-362480" algn="l" defTabSz="966612"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This project contributes to the growing body of knowledge in the field of cardiovascular diseases and underscores the importance of personalized medicine and preventive healthcare. As we strive to mitigate the burden of CVDs on global health, our work provides valuable insights for researchers, healthcare professionals, and policymakers alike, fostering informed decision-making and targeted interventions.</a:t>
            </a:r>
          </a:p>
          <a:p>
            <a:pPr marL="362480" marR="0" lvl="0" indent="-362480" algn="l" defTabSz="966612" rtl="0" eaLnBrk="1" fontAlgn="auto" latinLnBrk="0" hangingPunct="1">
              <a:lnSpc>
                <a:spcPct val="100000"/>
              </a:lnSpc>
              <a:spcBef>
                <a:spcPct val="20000"/>
              </a:spcBef>
              <a:spcAft>
                <a:spcPts val="0"/>
              </a:spcAft>
              <a:buClrTx/>
              <a:buSzTx/>
              <a:buFont typeface="Wingdings" pitchFamily="2" charset="2"/>
              <a:buChar char="Ø"/>
              <a:tabLst/>
              <a:defRPr/>
            </a:pPr>
            <a:endPar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0" indent="0" algn="l" fontAlgn="base">
              <a:buNone/>
            </a:pPr>
            <a:br>
              <a:rPr lang="en-US" sz="1100" dirty="0"/>
            </a:br>
            <a:br>
              <a:rPr lang="en-US" sz="1100" dirty="0"/>
            </a:br>
            <a:endPar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0" indent="0">
              <a:buNone/>
            </a:pPr>
            <a:endParaRPr lang="en-US" dirty="0"/>
          </a:p>
        </p:txBody>
      </p:sp>
    </p:spTree>
    <p:extLst>
      <p:ext uri="{BB962C8B-B14F-4D97-AF65-F5344CB8AC3E}">
        <p14:creationId xmlns:p14="http://schemas.microsoft.com/office/powerpoint/2010/main" val="3632667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F349-0901-E5F6-CBD3-9FB3E0419525}"/>
              </a:ext>
            </a:extLst>
          </p:cNvPr>
          <p:cNvSpPr>
            <a:spLocks noGrp="1"/>
          </p:cNvSpPr>
          <p:nvPr>
            <p:ph type="title"/>
          </p:nvPr>
        </p:nvSpPr>
        <p:spPr>
          <a:xfrm>
            <a:off x="548640" y="12251"/>
            <a:ext cx="9875520" cy="1219200"/>
          </a:xfrm>
        </p:spPr>
        <p:txBody>
          <a:bodyPr>
            <a:normAutofit/>
          </a:bodyPr>
          <a:lstStyle/>
          <a:p>
            <a:r>
              <a:rPr lang="en-US" sz="4000" b="1" u="sng" dirty="0">
                <a:latin typeface="Times New Roman" panose="02020603050405020304" pitchFamily="18" charset="0"/>
                <a:cs typeface="Times New Roman" panose="02020603050405020304" pitchFamily="18" charset="0"/>
              </a:rPr>
              <a:t>ABSTRACT</a:t>
            </a:r>
            <a:endParaRPr lang="en-IN" sz="40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3EA2D2A-E6D0-08C0-842B-4276C233B727}"/>
              </a:ext>
            </a:extLst>
          </p:cNvPr>
          <p:cNvSpPr txBox="1"/>
          <p:nvPr/>
        </p:nvSpPr>
        <p:spPr>
          <a:xfrm>
            <a:off x="381000" y="1066800"/>
            <a:ext cx="9790676" cy="5969391"/>
          </a:xfrm>
          <a:prstGeom prst="rect">
            <a:avLst/>
          </a:prstGeom>
          <a:noFill/>
        </p:spPr>
        <p:txBody>
          <a:bodyPr wrap="square" rtlCol="0">
            <a:spAutoFit/>
          </a:bodyPr>
          <a:lstStyle/>
          <a:p>
            <a:pPr marL="342900" indent="-342900"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final year project is centered around the creation and implementation of a heart disease prediction system utilizing cutting-edge Artificial Intelligence (AI) and Machine Learning (ML) techniques.</a:t>
            </a:r>
          </a:p>
          <a:p>
            <a:pPr algn="just">
              <a:lnSpc>
                <a:spcPct val="120000"/>
              </a:lnSpc>
            </a:pPr>
            <a:endParaRPr lang="en-US" sz="2000" dirty="0">
              <a:latin typeface="Times New Roman" panose="02020603050405020304" pitchFamily="18" charset="0"/>
              <a:cs typeface="Times New Roman" panose="02020603050405020304" pitchFamily="18" charset="0"/>
            </a:endParaRPr>
          </a:p>
          <a:p>
            <a:pPr marL="342900" indent="-342900"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methodology involves the integration of a comprehensive dataset encompassing diverse patient profiles, clinical attributes, and historical health-data. Heart Disease dataset has some non-linear tendency.</a:t>
            </a:r>
          </a:p>
          <a:p>
            <a:pPr marL="342900" indent="-342900" algn="just">
              <a:lnSpc>
                <a:spcPct val="12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Improvement on Heart Disease Prediction technique by correctly adjusting the Random Forest Machine Learning Model (fetching 85.81% accuracy).</a:t>
            </a:r>
          </a:p>
          <a:p>
            <a:pPr marL="342900" indent="-342900" algn="just">
              <a:lnSpc>
                <a:spcPct val="12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Health care data contains hidden information which is useful for making effective decisions.</a:t>
            </a:r>
          </a:p>
          <a:p>
            <a:pPr marL="342900" indent="-342900" algn="just">
              <a:lnSpc>
                <a:spcPct val="12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Insights from this project are significant for shaping future personalized preventive healthcare strategies. This can help patients in getting a quick diagnosis with a lot less cost.</a:t>
            </a:r>
          </a:p>
        </p:txBody>
      </p:sp>
    </p:spTree>
    <p:extLst>
      <p:ext uri="{BB962C8B-B14F-4D97-AF65-F5344CB8AC3E}">
        <p14:creationId xmlns:p14="http://schemas.microsoft.com/office/powerpoint/2010/main" val="908868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2816" y="372535"/>
            <a:ext cx="8412480" cy="742438"/>
          </a:xfrm>
        </p:spPr>
        <p:txBody>
          <a:bodyPr>
            <a:normAutofit/>
          </a:bodyPr>
          <a:lstStyle/>
          <a:p>
            <a:pPr algn="ctr"/>
            <a:r>
              <a:rPr lang="en-US" sz="4000" b="1" u="sng" dirty="0">
                <a:latin typeface="Times New Roman" panose="02020603050405020304" pitchFamily="18" charset="0"/>
                <a:cs typeface="Times New Roman" panose="02020603050405020304" pitchFamily="18" charset="0"/>
              </a:rPr>
              <a:t>LITERATURE SURVEY</a:t>
            </a:r>
          </a:p>
        </p:txBody>
      </p:sp>
      <p:graphicFrame>
        <p:nvGraphicFramePr>
          <p:cNvPr id="5" name="Table 4"/>
          <p:cNvGraphicFramePr>
            <a:graphicFrameLocks noGrp="1"/>
          </p:cNvGraphicFramePr>
          <p:nvPr>
            <p:extLst>
              <p:ext uri="{D42A27DB-BD31-4B8C-83A1-F6EECF244321}">
                <p14:modId xmlns:p14="http://schemas.microsoft.com/office/powerpoint/2010/main" val="174970691"/>
              </p:ext>
            </p:extLst>
          </p:nvPr>
        </p:nvGraphicFramePr>
        <p:xfrm>
          <a:off x="1090003" y="1114973"/>
          <a:ext cx="8784612" cy="5396198"/>
        </p:xfrm>
        <a:graphic>
          <a:graphicData uri="http://schemas.openxmlformats.org/drawingml/2006/table">
            <a:tbl>
              <a:tblPr firstRow="1" bandRow="1">
                <a:tableStyleId>{5940675A-B579-460E-94D1-54222C63F5DA}</a:tableStyleId>
              </a:tblPr>
              <a:tblGrid>
                <a:gridCol w="625977">
                  <a:extLst>
                    <a:ext uri="{9D8B030D-6E8A-4147-A177-3AD203B41FA5}">
                      <a16:colId xmlns:a16="http://schemas.microsoft.com/office/drawing/2014/main" val="20000"/>
                    </a:ext>
                  </a:extLst>
                </a:gridCol>
                <a:gridCol w="1674777">
                  <a:extLst>
                    <a:ext uri="{9D8B030D-6E8A-4147-A177-3AD203B41FA5}">
                      <a16:colId xmlns:a16="http://schemas.microsoft.com/office/drawing/2014/main" val="20001"/>
                    </a:ext>
                  </a:extLst>
                </a:gridCol>
                <a:gridCol w="2128035">
                  <a:extLst>
                    <a:ext uri="{9D8B030D-6E8A-4147-A177-3AD203B41FA5}">
                      <a16:colId xmlns:a16="http://schemas.microsoft.com/office/drawing/2014/main" val="20002"/>
                    </a:ext>
                  </a:extLst>
                </a:gridCol>
                <a:gridCol w="2128035">
                  <a:extLst>
                    <a:ext uri="{9D8B030D-6E8A-4147-A177-3AD203B41FA5}">
                      <a16:colId xmlns:a16="http://schemas.microsoft.com/office/drawing/2014/main" val="20003"/>
                    </a:ext>
                  </a:extLst>
                </a:gridCol>
                <a:gridCol w="2227788">
                  <a:extLst>
                    <a:ext uri="{9D8B030D-6E8A-4147-A177-3AD203B41FA5}">
                      <a16:colId xmlns:a16="http://schemas.microsoft.com/office/drawing/2014/main" val="20004"/>
                    </a:ext>
                  </a:extLst>
                </a:gridCol>
              </a:tblGrid>
              <a:tr h="593639">
                <a:tc>
                  <a:txBody>
                    <a:bodyPr/>
                    <a:lstStyle/>
                    <a:p>
                      <a:pPr algn="ctr"/>
                      <a:r>
                        <a:rPr lang="en-US" sz="1600" dirty="0">
                          <a:latin typeface="Times New Roman" panose="02020603050405020304" pitchFamily="18" charset="0"/>
                          <a:cs typeface="Times New Roman" panose="02020603050405020304" pitchFamily="18" charset="0"/>
                        </a:rPr>
                        <a:t>S.No.</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Title</a:t>
                      </a:r>
                    </a:p>
                  </a:txBody>
                  <a:tcPr marL="73152" marR="73152" marT="36577" marB="36577" anchor="ctr"/>
                </a:tc>
                <a:tc>
                  <a:txBody>
                    <a:bodyPr/>
                    <a:lstStyle/>
                    <a:p>
                      <a:pPr algn="ctr"/>
                      <a:r>
                        <a:rPr lang="en-US" sz="1600" dirty="0">
                          <a:latin typeface="Times New Roman" panose="02020603050405020304" pitchFamily="18" charset="0"/>
                          <a:ea typeface="Tahoma" panose="020B0604030504040204" pitchFamily="34" charset="0"/>
                          <a:cs typeface="Times New Roman" panose="02020603050405020304" pitchFamily="18" charset="0"/>
                        </a:rPr>
                        <a:t>Authors</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Methodologies</a:t>
                      </a:r>
                      <a:endParaRPr lang="en-US" sz="1600" dirty="0">
                        <a:latin typeface="Times New Roman" panose="02020603050405020304" pitchFamily="18" charset="0"/>
                        <a:ea typeface="Tahoma" panose="020B0604030504040204" pitchFamily="34" charset="0"/>
                        <a:cs typeface="Times New Roman" panose="02020603050405020304" pitchFamily="18" charset="0"/>
                      </a:endParaRPr>
                    </a:p>
                  </a:txBody>
                  <a:tcPr marL="73152" marR="73152" marT="36577" marB="36577" anchor="ctr"/>
                </a:tc>
                <a:tc>
                  <a:txBody>
                    <a:bodyPr/>
                    <a:lstStyle/>
                    <a:p>
                      <a:pPr algn="ctr"/>
                      <a:r>
                        <a:rPr lang="en-US" sz="1600" baseline="0" dirty="0">
                          <a:latin typeface="Times New Roman" panose="02020603050405020304" pitchFamily="18" charset="0"/>
                          <a:cs typeface="Times New Roman" panose="02020603050405020304" pitchFamily="18" charset="0"/>
                        </a:rPr>
                        <a:t>Limitations</a:t>
                      </a:r>
                      <a:endParaRPr lang="en-US" sz="1600" dirty="0">
                        <a:latin typeface="Times New Roman" panose="02020603050405020304" pitchFamily="18" charset="0"/>
                        <a:cs typeface="Times New Roman" panose="02020603050405020304" pitchFamily="18" charset="0"/>
                      </a:endParaRPr>
                    </a:p>
                  </a:txBody>
                  <a:tcPr marL="73152" marR="73152" marT="36577" marB="36577" anchor="ctr"/>
                </a:tc>
                <a:extLst>
                  <a:ext uri="{0D108BD9-81ED-4DB2-BD59-A6C34878D82A}">
                    <a16:rowId xmlns:a16="http://schemas.microsoft.com/office/drawing/2014/main" val="10000"/>
                  </a:ext>
                </a:extLst>
              </a:tr>
              <a:tr h="1367949">
                <a:tc>
                  <a:txBody>
                    <a:bodyPr/>
                    <a:lstStyle/>
                    <a:p>
                      <a:pPr algn="ctr"/>
                      <a:r>
                        <a:rPr lang="en-US" sz="1600" dirty="0">
                          <a:latin typeface="Times New Roman" panose="02020603050405020304" pitchFamily="18" charset="0"/>
                          <a:cs typeface="Times New Roman" panose="02020603050405020304" pitchFamily="18" charset="0"/>
                        </a:rPr>
                        <a:t>1.</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An Artificial Neural Network Model for Neonatal Disease Diagnosis </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Dilip Roy Chowdhury,</a:t>
                      </a:r>
                    </a:p>
                    <a:p>
                      <a:pPr algn="ctr"/>
                      <a:r>
                        <a:rPr lang="en-US" sz="1600" dirty="0">
                          <a:latin typeface="Times New Roman" panose="02020603050405020304" pitchFamily="18" charset="0"/>
                          <a:cs typeface="Times New Roman" panose="02020603050405020304" pitchFamily="18" charset="0"/>
                        </a:rPr>
                        <a:t>Mridula Chatterjee,</a:t>
                      </a:r>
                    </a:p>
                    <a:p>
                      <a:pPr algn="ctr"/>
                      <a:r>
                        <a:rPr lang="en-US" sz="1600" dirty="0">
                          <a:latin typeface="Times New Roman" panose="02020603050405020304" pitchFamily="18" charset="0"/>
                          <a:cs typeface="Times New Roman" panose="02020603050405020304" pitchFamily="18" charset="0"/>
                        </a:rPr>
                        <a:t>R.K. Samanta</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Multi</a:t>
                      </a:r>
                      <a:r>
                        <a:rPr lang="en-US" sz="1600" baseline="0" dirty="0">
                          <a:latin typeface="Times New Roman" panose="02020603050405020304" pitchFamily="18" charset="0"/>
                          <a:cs typeface="Times New Roman" panose="02020603050405020304" pitchFamily="18" charset="0"/>
                        </a:rPr>
                        <a:t>-Layered Perceptron</a:t>
                      </a:r>
                      <a:endParaRPr lang="en-US" sz="1600" dirty="0">
                        <a:latin typeface="Times New Roman" panose="02020603050405020304" pitchFamily="18" charset="0"/>
                        <a:cs typeface="Times New Roman" panose="02020603050405020304" pitchFamily="18" charset="0"/>
                      </a:endParaRP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They</a:t>
                      </a:r>
                      <a:r>
                        <a:rPr lang="en-US" sz="1600" baseline="0" dirty="0">
                          <a:latin typeface="Times New Roman" panose="02020603050405020304" pitchFamily="18" charset="0"/>
                          <a:cs typeface="Times New Roman" panose="02020603050405020304" pitchFamily="18" charset="0"/>
                        </a:rPr>
                        <a:t> used 94 attributes(which is a great number) to train the NN which gives a lesser accuracy of 75%</a:t>
                      </a:r>
                      <a:endParaRPr lang="en-US" sz="1600" dirty="0">
                        <a:latin typeface="Times New Roman" panose="02020603050405020304" pitchFamily="18" charset="0"/>
                        <a:cs typeface="Times New Roman" panose="02020603050405020304" pitchFamily="18" charset="0"/>
                      </a:endParaRPr>
                    </a:p>
                  </a:txBody>
                  <a:tcPr marL="73152" marR="73152" marT="36577" marB="36577" anchor="ctr"/>
                </a:tc>
                <a:extLst>
                  <a:ext uri="{0D108BD9-81ED-4DB2-BD59-A6C34878D82A}">
                    <a16:rowId xmlns:a16="http://schemas.microsoft.com/office/drawing/2014/main" val="10001"/>
                  </a:ext>
                </a:extLst>
              </a:tr>
              <a:tr h="2142256">
                <a:tc>
                  <a:txBody>
                    <a:bodyPr/>
                    <a:lstStyle/>
                    <a:p>
                      <a:pPr algn="ctr"/>
                      <a:r>
                        <a:rPr lang="en-US" sz="1600" dirty="0">
                          <a:latin typeface="Times New Roman" panose="02020603050405020304" pitchFamily="18" charset="0"/>
                          <a:cs typeface="Times New Roman" panose="02020603050405020304" pitchFamily="18" charset="0"/>
                        </a:rPr>
                        <a:t>2.</a:t>
                      </a:r>
                    </a:p>
                  </a:txBody>
                  <a:tcPr marL="73152" marR="73152" marT="36577" marB="3657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Comparative Study of Data Mining Classification Methods in Cardiovascular Disease Prediction</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Milan Kumari, </a:t>
                      </a:r>
                    </a:p>
                    <a:p>
                      <a:pPr algn="ctr"/>
                      <a:r>
                        <a:rPr lang="en-US" sz="1600" dirty="0">
                          <a:latin typeface="Times New Roman" panose="02020603050405020304" pitchFamily="18" charset="0"/>
                          <a:cs typeface="Times New Roman" panose="02020603050405020304" pitchFamily="18" charset="0"/>
                        </a:rPr>
                        <a:t>Sunila Godara</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Decision</a:t>
                      </a:r>
                      <a:r>
                        <a:rPr lang="en-US" sz="1600" baseline="0" dirty="0">
                          <a:latin typeface="Times New Roman" panose="02020603050405020304" pitchFamily="18" charset="0"/>
                          <a:cs typeface="Times New Roman" panose="02020603050405020304" pitchFamily="18" charset="0"/>
                        </a:rPr>
                        <a:t> Tree,</a:t>
                      </a:r>
                    </a:p>
                    <a:p>
                      <a:pPr algn="ctr"/>
                      <a:r>
                        <a:rPr lang="en-US" sz="1600" baseline="0" dirty="0">
                          <a:latin typeface="Times New Roman" panose="02020603050405020304" pitchFamily="18" charset="0"/>
                          <a:cs typeface="Times New Roman" panose="02020603050405020304" pitchFamily="18" charset="0"/>
                        </a:rPr>
                        <a:t>Artificial Neural Network</a:t>
                      </a:r>
                      <a:endParaRPr lang="en-US" sz="1600" dirty="0">
                        <a:latin typeface="Times New Roman" panose="02020603050405020304" pitchFamily="18" charset="0"/>
                        <a:cs typeface="Times New Roman" panose="02020603050405020304" pitchFamily="18" charset="0"/>
                      </a:endParaRP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Accuracy</a:t>
                      </a:r>
                      <a:r>
                        <a:rPr lang="en-US" sz="1600" baseline="0" dirty="0">
                          <a:latin typeface="Times New Roman" panose="02020603050405020304" pitchFamily="18" charset="0"/>
                          <a:cs typeface="Times New Roman" panose="02020603050405020304" pitchFamily="18" charset="0"/>
                        </a:rPr>
                        <a:t> was closer to 80 % which could be improved</a:t>
                      </a:r>
                      <a:endParaRPr lang="en-US" sz="1600" dirty="0">
                        <a:latin typeface="Times New Roman" panose="02020603050405020304" pitchFamily="18" charset="0"/>
                        <a:cs typeface="Times New Roman" panose="02020603050405020304" pitchFamily="18" charset="0"/>
                      </a:endParaRPr>
                    </a:p>
                  </a:txBody>
                  <a:tcPr marL="73152" marR="73152" marT="36577" marB="36577" anchor="ctr"/>
                </a:tc>
                <a:extLst>
                  <a:ext uri="{0D108BD9-81ED-4DB2-BD59-A6C34878D82A}">
                    <a16:rowId xmlns:a16="http://schemas.microsoft.com/office/drawing/2014/main" val="10002"/>
                  </a:ext>
                </a:extLst>
              </a:tr>
              <a:tr h="1292354">
                <a:tc>
                  <a:txBody>
                    <a:bodyPr/>
                    <a:lstStyle/>
                    <a:p>
                      <a:pPr algn="ctr"/>
                      <a:r>
                        <a:rPr lang="en-US" sz="1600" dirty="0">
                          <a:latin typeface="Times New Roman" panose="02020603050405020304" pitchFamily="18" charset="0"/>
                          <a:cs typeface="Times New Roman" panose="02020603050405020304" pitchFamily="18" charset="0"/>
                        </a:rPr>
                        <a:t>3.</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Decision</a:t>
                      </a:r>
                      <a:r>
                        <a:rPr lang="en-US" sz="1600" baseline="0" dirty="0">
                          <a:latin typeface="Times New Roman" panose="02020603050405020304" pitchFamily="18" charset="0"/>
                          <a:cs typeface="Times New Roman" panose="02020603050405020304" pitchFamily="18" charset="0"/>
                        </a:rPr>
                        <a:t> Support System for Heart Disease Diagnosis using Neural Network</a:t>
                      </a:r>
                      <a:endParaRPr lang="en-US" sz="1600" dirty="0">
                        <a:latin typeface="Times New Roman" panose="02020603050405020304" pitchFamily="18" charset="0"/>
                        <a:cs typeface="Times New Roman" panose="02020603050405020304" pitchFamily="18" charset="0"/>
                      </a:endParaRP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Niti Guru,</a:t>
                      </a:r>
                    </a:p>
                    <a:p>
                      <a:pPr algn="ctr"/>
                      <a:r>
                        <a:rPr lang="en-US" sz="1600" dirty="0">
                          <a:latin typeface="Times New Roman" panose="02020603050405020304" pitchFamily="18" charset="0"/>
                          <a:cs typeface="Times New Roman" panose="02020603050405020304" pitchFamily="18" charset="0"/>
                        </a:rPr>
                        <a:t>Anil Dahiya,</a:t>
                      </a:r>
                    </a:p>
                    <a:p>
                      <a:pPr algn="ctr"/>
                      <a:r>
                        <a:rPr lang="en-US" sz="1600" dirty="0">
                          <a:latin typeface="Times New Roman" panose="02020603050405020304" pitchFamily="18" charset="0"/>
                          <a:cs typeface="Times New Roman" panose="02020603050405020304" pitchFamily="18" charset="0"/>
                        </a:rPr>
                        <a:t>Navin Rajpal</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Neural Network</a:t>
                      </a:r>
                    </a:p>
                  </a:txBody>
                  <a:tcPr marL="73152" marR="73152" marT="36577" marB="36577" anchor="ctr"/>
                </a:tc>
                <a:tc>
                  <a:txBody>
                    <a:bodyPr/>
                    <a:lstStyle/>
                    <a:p>
                      <a:pPr algn="ctr"/>
                      <a:r>
                        <a:rPr lang="en-US" sz="1600" dirty="0">
                          <a:latin typeface="Times New Roman" panose="02020603050405020304" pitchFamily="18" charset="0"/>
                          <a:cs typeface="Times New Roman" panose="02020603050405020304" pitchFamily="18" charset="0"/>
                        </a:rPr>
                        <a:t>Only</a:t>
                      </a:r>
                      <a:r>
                        <a:rPr lang="en-US" sz="1600" baseline="0" dirty="0">
                          <a:latin typeface="Times New Roman" panose="02020603050405020304" pitchFamily="18" charset="0"/>
                          <a:cs typeface="Times New Roman" panose="02020603050405020304" pitchFamily="18" charset="0"/>
                        </a:rPr>
                        <a:t> 78 instances were used to train neural network which tends to be less effective.</a:t>
                      </a:r>
                      <a:endParaRPr lang="en-US" sz="1600" dirty="0">
                        <a:latin typeface="Times New Roman" panose="02020603050405020304" pitchFamily="18" charset="0"/>
                        <a:cs typeface="Times New Roman" panose="02020603050405020304" pitchFamily="18" charset="0"/>
                      </a:endParaRPr>
                    </a:p>
                  </a:txBody>
                  <a:tcPr marL="73152" marR="73152" marT="36577" marB="36577"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95125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0F78C-23DD-507D-216D-6A3CA4572BD4}"/>
              </a:ext>
            </a:extLst>
          </p:cNvPr>
          <p:cNvSpPr>
            <a:spLocks noGrp="1"/>
          </p:cNvSpPr>
          <p:nvPr>
            <p:ph type="title"/>
          </p:nvPr>
        </p:nvSpPr>
        <p:spPr>
          <a:xfrm>
            <a:off x="632197" y="31531"/>
            <a:ext cx="9875520" cy="1219200"/>
          </a:xfrm>
        </p:spPr>
        <p:txBody>
          <a:bodyPr>
            <a:normAutofit/>
          </a:bodyPr>
          <a:lstStyle/>
          <a:p>
            <a:r>
              <a:rPr lang="en-US" sz="4000" b="1" u="sng" dirty="0">
                <a:latin typeface="Times New Roman" panose="02020603050405020304" pitchFamily="18" charset="0"/>
                <a:cs typeface="Times New Roman" panose="02020603050405020304" pitchFamily="18" charset="0"/>
              </a:rPr>
              <a:t>PROBLEM DEFINITION</a:t>
            </a:r>
            <a:endParaRPr lang="en-IN" sz="4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62FEFC2-4FDA-A2FB-28C3-70BC172A55B0}"/>
              </a:ext>
            </a:extLst>
          </p:cNvPr>
          <p:cNvSpPr txBox="1"/>
          <p:nvPr/>
        </p:nvSpPr>
        <p:spPr>
          <a:xfrm>
            <a:off x="381000" y="1066800"/>
            <a:ext cx="10134600" cy="7478970"/>
          </a:xfrm>
          <a:prstGeom prst="rect">
            <a:avLst/>
          </a:prstGeom>
          <a:noFill/>
        </p:spPr>
        <p:txBody>
          <a:bodyPr wrap="square">
            <a:spAutoFit/>
          </a:bodyPr>
          <a:lstStyle/>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WHO has estimated that Cardiovascular diseases (CVDs) are the leading cause of death globally, taking an estimated 17.9 million lives each year.</a:t>
            </a: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Developing a model to detect heart disease early is challenging due to the subtle and complex nature of early symptoms, making it difficult to identify patterns.</a:t>
            </a: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Millions of health-related data being generated every day which is difficult to be analyzed.</a:t>
            </a: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Integrate clinical, lifestyle, and genetic data for comprehensive heart disease prediction is challenging.</a:t>
            </a: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Huge amount of time and cost is required to detect heart disease.</a:t>
            </a: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Developing personalized treatment recommendations is challenging due to the need for models that consider individual preferences, responses to treatment, and lifestyle factors.</a:t>
            </a: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a:p>
            <a:pPr algn="just">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300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DC758-E3C1-621B-00EA-3730AC549FDC}"/>
              </a:ext>
            </a:extLst>
          </p:cNvPr>
          <p:cNvSpPr>
            <a:spLocks noGrp="1"/>
          </p:cNvSpPr>
          <p:nvPr>
            <p:ph type="title"/>
          </p:nvPr>
        </p:nvSpPr>
        <p:spPr/>
        <p:txBody>
          <a:bodyPr>
            <a:normAutofit/>
          </a:bodyPr>
          <a:lstStyle/>
          <a:p>
            <a:r>
              <a:rPr lang="en-US" sz="4000" b="1" u="sng" dirty="0">
                <a:latin typeface="Times New Roman" panose="02020603050405020304" pitchFamily="18" charset="0"/>
                <a:cs typeface="Times New Roman" panose="02020603050405020304" pitchFamily="18" charset="0"/>
              </a:rPr>
              <a:t>SOLUTION STRATEGY</a:t>
            </a:r>
            <a:endParaRPr lang="en-IN" sz="40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E458BB2-0147-F63B-C5BA-04A831824383}"/>
              </a:ext>
            </a:extLst>
          </p:cNvPr>
          <p:cNvSpPr txBox="1"/>
          <p:nvPr/>
        </p:nvSpPr>
        <p:spPr>
          <a:xfrm>
            <a:off x="548640" y="1828800"/>
            <a:ext cx="10119360" cy="3785652"/>
          </a:xfrm>
          <a:prstGeom prst="rect">
            <a:avLst/>
          </a:prstGeom>
          <a:noFill/>
        </p:spPr>
        <p:txBody>
          <a:bodyPr wrap="square" rtlCol="0">
            <a:spAutoFit/>
          </a:bodyPr>
          <a:lstStyle/>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Collecting Dataset</a:t>
            </a:r>
            <a:r>
              <a:rPr lang="en-US" sz="2000" dirty="0">
                <a:latin typeface="Times New Roman" panose="02020603050405020304" pitchFamily="18" charset="0"/>
                <a:cs typeface="Times New Roman" panose="02020603050405020304" pitchFamily="18" charset="0"/>
              </a:rPr>
              <a:t>: Gather diverse health data for heart disease prediction.</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Selecting Attributes: </a:t>
            </a:r>
            <a:r>
              <a:rPr lang="en-US" sz="2000" dirty="0">
                <a:latin typeface="Times New Roman" panose="02020603050405020304" pitchFamily="18" charset="0"/>
                <a:cs typeface="Times New Roman" panose="02020603050405020304" pitchFamily="18" charset="0"/>
              </a:rPr>
              <a:t>Choose key features for accurate prediction.</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Preprocessing</a:t>
            </a:r>
            <a:r>
              <a:rPr lang="en-US" sz="2000" dirty="0">
                <a:latin typeface="Times New Roman" panose="02020603050405020304" pitchFamily="18" charset="0"/>
                <a:cs typeface="Times New Roman" panose="02020603050405020304" pitchFamily="18" charset="0"/>
              </a:rPr>
              <a:t>: Clean and enhance data for reliability.</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Apply Algorithms</a:t>
            </a:r>
            <a:r>
              <a:rPr lang="en-US" sz="2000" dirty="0">
                <a:latin typeface="Times New Roman" panose="02020603050405020304" pitchFamily="18" charset="0"/>
                <a:cs typeface="Times New Roman" panose="02020603050405020304" pitchFamily="18" charset="0"/>
              </a:rPr>
              <a:t>: Use suitable ML methods for heart disease prediction.</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Cross-Validation</a:t>
            </a:r>
            <a:r>
              <a:rPr lang="en-US" sz="2000" dirty="0">
                <a:latin typeface="Times New Roman" panose="02020603050405020304" pitchFamily="18" charset="0"/>
                <a:cs typeface="Times New Roman" panose="02020603050405020304" pitchFamily="18" charset="0"/>
              </a:rPr>
              <a:t>: Assess model performance across data subsets.</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Evaluate Accuracy</a:t>
            </a:r>
            <a:r>
              <a:rPr lang="en-US" sz="2000" dirty="0">
                <a:latin typeface="Times New Roman" panose="02020603050405020304" pitchFamily="18" charset="0"/>
                <a:cs typeface="Times New Roman" panose="02020603050405020304" pitchFamily="18" charset="0"/>
              </a:rPr>
              <a:t>: Measure algorithm precision against actual outcomes.</a:t>
            </a:r>
          </a:p>
        </p:txBody>
      </p:sp>
    </p:spTree>
    <p:extLst>
      <p:ext uri="{BB962C8B-B14F-4D97-AF65-F5344CB8AC3E}">
        <p14:creationId xmlns:p14="http://schemas.microsoft.com/office/powerpoint/2010/main" val="335183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B8CFA-A4EC-A8B0-17D7-855D9A91FF85}"/>
              </a:ext>
            </a:extLst>
          </p:cNvPr>
          <p:cNvSpPr>
            <a:spLocks noGrp="1"/>
          </p:cNvSpPr>
          <p:nvPr>
            <p:ph type="title"/>
          </p:nvPr>
        </p:nvSpPr>
        <p:spPr/>
        <p:txBody>
          <a:bodyPr/>
          <a:lstStyle/>
          <a:p>
            <a:r>
              <a:rPr lang="en-US" sz="4400" b="1" u="sng" dirty="0">
                <a:latin typeface="Times New Roman" pitchFamily="18" charset="0"/>
                <a:cs typeface="Times New Roman" pitchFamily="18" charset="0"/>
              </a:rPr>
              <a:t>CONCEPTUAL MODEL</a:t>
            </a:r>
            <a:endParaRPr lang="en-IN" b="1" u="sng" dirty="0"/>
          </a:p>
        </p:txBody>
      </p:sp>
      <p:pic>
        <p:nvPicPr>
          <p:cNvPr id="3" name="Picture 2">
            <a:extLst>
              <a:ext uri="{FF2B5EF4-FFF2-40B4-BE49-F238E27FC236}">
                <a16:creationId xmlns:a16="http://schemas.microsoft.com/office/drawing/2014/main" id="{60DCC2A6-23B4-6835-FC22-041BA50DB8CB}"/>
              </a:ext>
            </a:extLst>
          </p:cNvPr>
          <p:cNvPicPr>
            <a:picLocks noChangeAspect="1" noChangeArrowheads="1"/>
          </p:cNvPicPr>
          <p:nvPr/>
        </p:nvPicPr>
        <p:blipFill>
          <a:blip r:embed="rId2"/>
          <a:srcRect/>
          <a:stretch>
            <a:fillRect/>
          </a:stretch>
        </p:blipFill>
        <p:spPr bwMode="auto">
          <a:xfrm>
            <a:off x="717030" y="1452562"/>
            <a:ext cx="9744075" cy="4410075"/>
          </a:xfrm>
          <a:prstGeom prst="rect">
            <a:avLst/>
          </a:prstGeom>
          <a:noFill/>
          <a:ln w="9525">
            <a:noFill/>
            <a:miter lim="800000"/>
            <a:headEnd/>
            <a:tailEnd/>
          </a:ln>
          <a:effectLst/>
        </p:spPr>
      </p:pic>
      <p:sp>
        <p:nvSpPr>
          <p:cNvPr id="6" name="TextBox 5">
            <a:extLst>
              <a:ext uri="{FF2B5EF4-FFF2-40B4-BE49-F238E27FC236}">
                <a16:creationId xmlns:a16="http://schemas.microsoft.com/office/drawing/2014/main" id="{0B52E127-7968-DEA1-C27F-A2900E099E4C}"/>
              </a:ext>
            </a:extLst>
          </p:cNvPr>
          <p:cNvSpPr txBox="1"/>
          <p:nvPr/>
        </p:nvSpPr>
        <p:spPr>
          <a:xfrm>
            <a:off x="3657600" y="6019800"/>
            <a:ext cx="56388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Fig 1: Structure of conceptual model</a:t>
            </a:r>
            <a:endParaRPr lang="en-IN" dirty="0"/>
          </a:p>
        </p:txBody>
      </p:sp>
    </p:spTree>
    <p:extLst>
      <p:ext uri="{BB962C8B-B14F-4D97-AF65-F5344CB8AC3E}">
        <p14:creationId xmlns:p14="http://schemas.microsoft.com/office/powerpoint/2010/main" val="3287246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3CC82-0B8E-69CE-5332-65D4C934663E}"/>
              </a:ext>
            </a:extLst>
          </p:cNvPr>
          <p:cNvSpPr>
            <a:spLocks noGrp="1"/>
          </p:cNvSpPr>
          <p:nvPr>
            <p:ph type="title"/>
          </p:nvPr>
        </p:nvSpPr>
        <p:spPr/>
        <p:txBody>
          <a:bodyPr>
            <a:normAutofit/>
          </a:bodyPr>
          <a:lstStyle/>
          <a:p>
            <a:r>
              <a:rPr lang="en-US" sz="4000" b="1" u="sng" dirty="0">
                <a:latin typeface="Times New Roman" panose="02020603050405020304" pitchFamily="18" charset="0"/>
                <a:cs typeface="Times New Roman" panose="02020603050405020304" pitchFamily="18" charset="0"/>
              </a:rPr>
              <a:t>METHODLOGY</a:t>
            </a:r>
            <a:endParaRPr lang="en-IN" sz="40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1E589B2-259B-D7D6-AE1F-1D74761D5E6D}"/>
              </a:ext>
            </a:extLst>
          </p:cNvPr>
          <p:cNvSpPr txBox="1"/>
          <p:nvPr/>
        </p:nvSpPr>
        <p:spPr>
          <a:xfrm>
            <a:off x="548640" y="1512148"/>
            <a:ext cx="9875520" cy="409342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Machine learning algorithms used (using </a:t>
            </a:r>
            <a:r>
              <a:rPr lang="en-IN" sz="2000" dirty="0" err="1">
                <a:latin typeface="Times New Roman" panose="02020603050405020304" pitchFamily="18" charset="0"/>
                <a:cs typeface="Times New Roman" panose="02020603050405020304" pitchFamily="18" charset="0"/>
              </a:rPr>
              <a:t>skicit</a:t>
            </a:r>
            <a:r>
              <a:rPr lang="en-IN" sz="2000" dirty="0">
                <a:latin typeface="Times New Roman" panose="02020603050405020304" pitchFamily="18" charset="0"/>
                <a:cs typeface="Times New Roman" panose="02020603050405020304" pitchFamily="18" charset="0"/>
              </a:rPr>
              <a:t>-learn library of python):</a:t>
            </a:r>
          </a:p>
          <a:p>
            <a:pPr marL="0" indent="0">
              <a:buNone/>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Linear Regression              </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Logistic Regression</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Support Vector Machine</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Decision Tree</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Random Forest</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Cross Validation Techniques used:</a:t>
            </a:r>
          </a:p>
          <a:p>
            <a:pPr marL="0" indent="0">
              <a:buNone/>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3-fold</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5-fold</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10-fold</a:t>
            </a:r>
          </a:p>
        </p:txBody>
      </p:sp>
    </p:spTree>
    <p:extLst>
      <p:ext uri="{BB962C8B-B14F-4D97-AF65-F5344CB8AC3E}">
        <p14:creationId xmlns:p14="http://schemas.microsoft.com/office/powerpoint/2010/main" val="43812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u="sng" dirty="0">
                <a:latin typeface="Times New Roman" panose="02020603050405020304" pitchFamily="18" charset="0"/>
                <a:cs typeface="Times New Roman" panose="02020603050405020304" pitchFamily="18" charset="0"/>
              </a:rPr>
              <a:t>IMPLEMENTATION DETAILS (Steps)</a:t>
            </a:r>
          </a:p>
        </p:txBody>
      </p:sp>
      <p:sp>
        <p:nvSpPr>
          <p:cNvPr id="3" name="Content Placeholder 2"/>
          <p:cNvSpPr>
            <a:spLocks noGrp="1"/>
          </p:cNvSpPr>
          <p:nvPr>
            <p:ph idx="1"/>
          </p:nvPr>
        </p:nvSpPr>
        <p:spPr>
          <a:xfrm>
            <a:off x="1066800" y="1752600"/>
            <a:ext cx="8412480" cy="4641427"/>
          </a:xfrm>
        </p:spPr>
        <p:txBody>
          <a:bodyPr/>
          <a:lstStyle/>
          <a:p>
            <a:pPr marL="365771" indent="-365771">
              <a:buFont typeface="+mj-lt"/>
              <a:buAutoNum type="arabicPeriod"/>
            </a:pPr>
            <a:r>
              <a:rPr lang="en-US" sz="1920" dirty="0">
                <a:solidFill>
                  <a:prstClr val="black"/>
                </a:solidFill>
                <a:latin typeface="Times New Roman" panose="02020603050405020304" pitchFamily="18" charset="0"/>
                <a:cs typeface="Times New Roman" panose="02020603050405020304" pitchFamily="18" charset="0"/>
              </a:rPr>
              <a:t>Start</a:t>
            </a:r>
          </a:p>
          <a:p>
            <a:pPr marL="365771" indent="-365771">
              <a:buFont typeface="+mj-lt"/>
              <a:buAutoNum type="arabicPeriod"/>
            </a:pPr>
            <a:r>
              <a:rPr lang="en-US" sz="1920" dirty="0">
                <a:solidFill>
                  <a:prstClr val="black"/>
                </a:solidFill>
                <a:latin typeface="Times New Roman" panose="02020603050405020304" pitchFamily="18" charset="0"/>
                <a:cs typeface="Times New Roman" panose="02020603050405020304" pitchFamily="18" charset="0"/>
              </a:rPr>
              <a:t>Collect the dataset. </a:t>
            </a:r>
          </a:p>
          <a:p>
            <a:pPr marL="365771" indent="-365771">
              <a:buFont typeface="+mj-lt"/>
              <a:buAutoNum type="arabicPeriod"/>
            </a:pPr>
            <a:r>
              <a:rPr lang="en-US" sz="1920" dirty="0">
                <a:solidFill>
                  <a:prstClr val="black"/>
                </a:solidFill>
                <a:latin typeface="Times New Roman" panose="02020603050405020304" pitchFamily="18" charset="0"/>
                <a:cs typeface="Times New Roman" panose="02020603050405020304" pitchFamily="18" charset="0"/>
              </a:rPr>
              <a:t>Select the dependent attribute. </a:t>
            </a:r>
          </a:p>
          <a:p>
            <a:pPr marL="365771" indent="-365771">
              <a:buFont typeface="+mj-lt"/>
              <a:buAutoNum type="arabicPeriod"/>
            </a:pPr>
            <a:r>
              <a:rPr lang="en-US" sz="1920" dirty="0">
                <a:solidFill>
                  <a:prstClr val="black"/>
                </a:solidFill>
                <a:latin typeface="Times New Roman" panose="02020603050405020304" pitchFamily="18" charset="0"/>
                <a:cs typeface="Times New Roman" panose="02020603050405020304" pitchFamily="18" charset="0"/>
              </a:rPr>
              <a:t>Preprocess the data. </a:t>
            </a:r>
          </a:p>
          <a:p>
            <a:pPr marL="365771" indent="-365771">
              <a:buFont typeface="+mj-lt"/>
              <a:buAutoNum type="arabicPeriod"/>
            </a:pPr>
            <a:r>
              <a:rPr lang="en-US" sz="1920" dirty="0">
                <a:solidFill>
                  <a:prstClr val="black"/>
                </a:solidFill>
                <a:latin typeface="Times New Roman" panose="02020603050405020304" pitchFamily="18" charset="0"/>
                <a:cs typeface="Times New Roman" panose="02020603050405020304" pitchFamily="18" charset="0"/>
              </a:rPr>
              <a:t>Analyze dataset for different type of machine learning algorithm.</a:t>
            </a:r>
          </a:p>
          <a:p>
            <a:pPr marL="365771" indent="-365771">
              <a:buFont typeface="+mj-lt"/>
              <a:buAutoNum type="arabicPeriod"/>
            </a:pPr>
            <a:r>
              <a:rPr lang="en-US" sz="1920" dirty="0">
                <a:solidFill>
                  <a:prstClr val="black"/>
                </a:solidFill>
                <a:latin typeface="Times New Roman" panose="02020603050405020304" pitchFamily="18" charset="0"/>
                <a:cs typeface="Times New Roman" panose="02020603050405020304" pitchFamily="18" charset="0"/>
              </a:rPr>
              <a:t>If supervised(labeled the data with input output pairs) : </a:t>
            </a:r>
          </a:p>
          <a:p>
            <a:pPr marL="0" indent="0">
              <a:buNone/>
            </a:pPr>
            <a:r>
              <a:rPr lang="en-US" sz="1920" dirty="0">
                <a:solidFill>
                  <a:prstClr val="black"/>
                </a:solidFill>
                <a:latin typeface="Times New Roman" panose="02020603050405020304" pitchFamily="18" charset="0"/>
                <a:cs typeface="Times New Roman" panose="02020603050405020304" pitchFamily="18" charset="0"/>
              </a:rPr>
              <a:t>	6.1.  Create training set and testing set using 10-fold cross-validation.</a:t>
            </a:r>
          </a:p>
          <a:p>
            <a:pPr marL="0" indent="0">
              <a:buNone/>
            </a:pPr>
            <a:r>
              <a:rPr lang="en-US" sz="1920" dirty="0">
                <a:solidFill>
                  <a:prstClr val="black"/>
                </a:solidFill>
                <a:latin typeface="Times New Roman" panose="02020603050405020304" pitchFamily="18" charset="0"/>
                <a:cs typeface="Times New Roman" panose="02020603050405020304" pitchFamily="18" charset="0"/>
              </a:rPr>
              <a:t>	6.2.  Apply supervised learning algorithm. </a:t>
            </a:r>
          </a:p>
          <a:p>
            <a:pPr marL="0" indent="0">
              <a:buNone/>
            </a:pPr>
            <a:r>
              <a:rPr lang="en-US" sz="1920" dirty="0">
                <a:solidFill>
                  <a:prstClr val="black"/>
                </a:solidFill>
                <a:latin typeface="Times New Roman" panose="02020603050405020304" pitchFamily="18" charset="0"/>
                <a:cs typeface="Times New Roman" panose="02020603050405020304" pitchFamily="18" charset="0"/>
              </a:rPr>
              <a:t>	6.3   Do testing using the test set.</a:t>
            </a:r>
          </a:p>
          <a:p>
            <a:pPr marL="0" indent="0">
              <a:buNone/>
            </a:pPr>
            <a:r>
              <a:rPr lang="en-US" sz="1920" dirty="0">
                <a:solidFill>
                  <a:prstClr val="black"/>
                </a:solidFill>
                <a:latin typeface="Times New Roman" panose="02020603050405020304" pitchFamily="18" charset="0"/>
                <a:cs typeface="Times New Roman" panose="02020603050405020304" pitchFamily="18" charset="0"/>
              </a:rPr>
              <a:t>	6.4.  Show the accuracy.</a:t>
            </a:r>
          </a:p>
          <a:p>
            <a:pPr marL="0" indent="0">
              <a:buNone/>
            </a:pPr>
            <a:r>
              <a:rPr lang="en-IN" sz="1920" dirty="0">
                <a:latin typeface="Times New Roman" panose="02020603050405020304" pitchFamily="18" charset="0"/>
                <a:cs typeface="Times New Roman" panose="02020603050405020304" pitchFamily="18" charset="0"/>
              </a:rPr>
              <a:t>7.   Stop</a:t>
            </a:r>
          </a:p>
        </p:txBody>
      </p:sp>
    </p:spTree>
    <p:extLst>
      <p:ext uri="{BB962C8B-B14F-4D97-AF65-F5344CB8AC3E}">
        <p14:creationId xmlns:p14="http://schemas.microsoft.com/office/powerpoint/2010/main" val="2396643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205" y="446316"/>
            <a:ext cx="8412480" cy="772560"/>
          </a:xfrm>
        </p:spPr>
        <p:txBody>
          <a:bodyPr>
            <a:normAutofit/>
          </a:bodyPr>
          <a:lstStyle/>
          <a:p>
            <a:pPr algn="ctr"/>
            <a:r>
              <a:rPr lang="en-US" sz="4000" b="1" u="sng" dirty="0">
                <a:latin typeface="Times New Roman" panose="02020603050405020304" pitchFamily="18" charset="0"/>
                <a:cs typeface="Times New Roman" panose="02020603050405020304" pitchFamily="18" charset="0"/>
              </a:rPr>
              <a:t>IMPLEMENTATION</a:t>
            </a:r>
          </a:p>
        </p:txBody>
      </p:sp>
      <p:sp>
        <p:nvSpPr>
          <p:cNvPr id="58" name="TextBox 57"/>
          <p:cNvSpPr txBox="1"/>
          <p:nvPr/>
        </p:nvSpPr>
        <p:spPr>
          <a:xfrm>
            <a:off x="3276600" y="6248399"/>
            <a:ext cx="4191000" cy="417763"/>
          </a:xfrm>
          <a:prstGeom prst="rect">
            <a:avLst/>
          </a:prstGeom>
          <a:noFill/>
        </p:spPr>
        <p:txBody>
          <a:bodyPr wrap="square" rtlCol="0">
            <a:spAutoFit/>
          </a:bodyPr>
          <a:lstStyle/>
          <a:p>
            <a:r>
              <a:rPr lang="en-US" sz="2027" dirty="0">
                <a:latin typeface="Times New Roman" panose="02020603050405020304" pitchFamily="18" charset="0"/>
                <a:cs typeface="Times New Roman" panose="02020603050405020304" pitchFamily="18" charset="0"/>
              </a:rPr>
              <a:t>Fig 2 : Flow Chart of implementation</a:t>
            </a:r>
          </a:p>
        </p:txBody>
      </p:sp>
      <p:grpSp>
        <p:nvGrpSpPr>
          <p:cNvPr id="12" name="Group 11"/>
          <p:cNvGrpSpPr/>
          <p:nvPr/>
        </p:nvGrpSpPr>
        <p:grpSpPr>
          <a:xfrm>
            <a:off x="2239768" y="1506851"/>
            <a:ext cx="6575363" cy="4239375"/>
            <a:chOff x="2054637" y="842276"/>
            <a:chExt cx="8219204" cy="5299217"/>
          </a:xfrm>
        </p:grpSpPr>
        <p:grpSp>
          <p:nvGrpSpPr>
            <p:cNvPr id="54" name="Group 53"/>
            <p:cNvGrpSpPr/>
            <p:nvPr/>
          </p:nvGrpSpPr>
          <p:grpSpPr>
            <a:xfrm>
              <a:off x="2054637" y="842276"/>
              <a:ext cx="8219204" cy="5299217"/>
              <a:chOff x="2567073" y="1070379"/>
              <a:chExt cx="8219204" cy="5562433"/>
            </a:xfrm>
          </p:grpSpPr>
          <p:sp>
            <p:nvSpPr>
              <p:cNvPr id="4" name="Oval 3"/>
              <p:cNvSpPr/>
              <p:nvPr/>
            </p:nvSpPr>
            <p:spPr>
              <a:xfrm>
                <a:off x="3549713" y="1070379"/>
                <a:ext cx="1296537" cy="36848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Start</a:t>
                </a:r>
              </a:p>
            </p:txBody>
          </p:sp>
          <p:sp>
            <p:nvSpPr>
              <p:cNvPr id="5" name="Rectangle 4"/>
              <p:cNvSpPr/>
              <p:nvPr/>
            </p:nvSpPr>
            <p:spPr>
              <a:xfrm>
                <a:off x="2567073" y="1813291"/>
                <a:ext cx="3261815" cy="4367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Get dataset</a:t>
                </a:r>
              </a:p>
            </p:txBody>
          </p:sp>
          <p:sp>
            <p:nvSpPr>
              <p:cNvPr id="7" name="Rectangle 6"/>
              <p:cNvSpPr/>
              <p:nvPr/>
            </p:nvSpPr>
            <p:spPr>
              <a:xfrm>
                <a:off x="2567073" y="2649565"/>
                <a:ext cx="3261815" cy="6804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Preprocess dataset</a:t>
                </a:r>
              </a:p>
              <a:p>
                <a:pPr algn="ctr"/>
                <a:r>
                  <a:rPr lang="en-US" sz="1441" dirty="0"/>
                  <a:t>(replace missing value, etc.)</a:t>
                </a:r>
              </a:p>
            </p:txBody>
          </p:sp>
          <p:sp>
            <p:nvSpPr>
              <p:cNvPr id="8" name="Rectangle 7"/>
              <p:cNvSpPr/>
              <p:nvPr/>
            </p:nvSpPr>
            <p:spPr>
              <a:xfrm>
                <a:off x="2567073" y="3729579"/>
                <a:ext cx="3261815" cy="8170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Analyze dataset for different type of Machine Learning Algorithm</a:t>
                </a:r>
              </a:p>
            </p:txBody>
          </p:sp>
          <p:sp>
            <p:nvSpPr>
              <p:cNvPr id="9" name="Rectangle 8"/>
              <p:cNvSpPr/>
              <p:nvPr/>
            </p:nvSpPr>
            <p:spPr>
              <a:xfrm rot="2685007">
                <a:off x="3686934" y="5142312"/>
                <a:ext cx="1059315" cy="10842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441" dirty="0"/>
              </a:p>
            </p:txBody>
          </p:sp>
          <p:sp>
            <p:nvSpPr>
              <p:cNvPr id="11" name="Rectangle 10"/>
              <p:cNvSpPr/>
              <p:nvPr/>
            </p:nvSpPr>
            <p:spPr>
              <a:xfrm>
                <a:off x="7524461" y="2843292"/>
                <a:ext cx="3261815" cy="6427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Apply Supervised Learning Algorithm</a:t>
                </a:r>
              </a:p>
            </p:txBody>
          </p:sp>
          <p:sp>
            <p:nvSpPr>
              <p:cNvPr id="13" name="Rectangle 12"/>
              <p:cNvSpPr/>
              <p:nvPr/>
            </p:nvSpPr>
            <p:spPr>
              <a:xfrm>
                <a:off x="7524462" y="1762892"/>
                <a:ext cx="3261815" cy="621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Create training set and testing set</a:t>
                </a:r>
              </a:p>
            </p:txBody>
          </p:sp>
          <p:sp>
            <p:nvSpPr>
              <p:cNvPr id="14" name="Rectangle 13"/>
              <p:cNvSpPr/>
              <p:nvPr/>
            </p:nvSpPr>
            <p:spPr>
              <a:xfrm>
                <a:off x="7524460" y="3873804"/>
                <a:ext cx="3261815" cy="4367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Do cross-validation</a:t>
                </a:r>
              </a:p>
            </p:txBody>
          </p:sp>
          <p:sp>
            <p:nvSpPr>
              <p:cNvPr id="15" name="Rectangle 14"/>
              <p:cNvSpPr/>
              <p:nvPr/>
            </p:nvSpPr>
            <p:spPr>
              <a:xfrm>
                <a:off x="7524460" y="4667411"/>
                <a:ext cx="3261815" cy="4367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Show the accuracy</a:t>
                </a:r>
              </a:p>
            </p:txBody>
          </p:sp>
          <p:sp>
            <p:nvSpPr>
              <p:cNvPr id="16" name="Oval 15"/>
              <p:cNvSpPr/>
              <p:nvPr/>
            </p:nvSpPr>
            <p:spPr>
              <a:xfrm>
                <a:off x="8507098" y="5663579"/>
                <a:ext cx="1296537" cy="36848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41" dirty="0"/>
                  <a:t>Stop</a:t>
                </a:r>
              </a:p>
            </p:txBody>
          </p:sp>
          <p:cxnSp>
            <p:nvCxnSpPr>
              <p:cNvPr id="19" name="Straight Arrow Connector 18"/>
              <p:cNvCxnSpPr>
                <a:stCxn id="4" idx="4"/>
                <a:endCxn id="5" idx="0"/>
              </p:cNvCxnSpPr>
              <p:nvPr/>
            </p:nvCxnSpPr>
            <p:spPr>
              <a:xfrm flipH="1">
                <a:off x="4197981" y="1438868"/>
                <a:ext cx="1" cy="37442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2" name="Straight Arrow Connector 21"/>
              <p:cNvCxnSpPr>
                <a:stCxn id="5" idx="2"/>
                <a:endCxn id="7" idx="0"/>
              </p:cNvCxnSpPr>
              <p:nvPr/>
            </p:nvCxnSpPr>
            <p:spPr>
              <a:xfrm>
                <a:off x="4197981" y="2250020"/>
                <a:ext cx="0" cy="39954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4" name="Straight Arrow Connector 23"/>
              <p:cNvCxnSpPr>
                <a:stCxn id="7" idx="2"/>
                <a:endCxn id="8" idx="0"/>
              </p:cNvCxnSpPr>
              <p:nvPr/>
            </p:nvCxnSpPr>
            <p:spPr>
              <a:xfrm>
                <a:off x="4197981" y="3330034"/>
                <a:ext cx="0" cy="39954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6" name="Straight Arrow Connector 25"/>
              <p:cNvCxnSpPr>
                <a:stCxn id="8" idx="2"/>
              </p:cNvCxnSpPr>
              <p:nvPr/>
            </p:nvCxnSpPr>
            <p:spPr>
              <a:xfrm flipH="1">
                <a:off x="4197980" y="4546623"/>
                <a:ext cx="1" cy="33915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1" name="Straight Connector 30"/>
              <p:cNvCxnSpPr/>
              <p:nvPr/>
            </p:nvCxnSpPr>
            <p:spPr>
              <a:xfrm flipV="1">
                <a:off x="4938157" y="5663580"/>
                <a:ext cx="1367109" cy="20877"/>
              </a:xfrm>
              <a:prstGeom prst="line">
                <a:avLst/>
              </a:prstGeom>
              <a:ln/>
            </p:spPr>
            <p:style>
              <a:lnRef idx="2">
                <a:schemeClr val="dk1"/>
              </a:lnRef>
              <a:fillRef idx="1">
                <a:schemeClr val="lt1"/>
              </a:fillRef>
              <a:effectRef idx="0">
                <a:schemeClr val="dk1"/>
              </a:effectRef>
              <a:fontRef idx="minor">
                <a:schemeClr val="dk1"/>
              </a:fontRef>
            </p:style>
          </p:cxnSp>
          <p:cxnSp>
            <p:nvCxnSpPr>
              <p:cNvPr id="33" name="Straight Connector 32"/>
              <p:cNvCxnSpPr/>
              <p:nvPr/>
            </p:nvCxnSpPr>
            <p:spPr>
              <a:xfrm flipV="1">
                <a:off x="6305266" y="2073460"/>
                <a:ext cx="0" cy="3590119"/>
              </a:xfrm>
              <a:prstGeom prst="line">
                <a:avLst/>
              </a:prstGeom>
              <a:ln/>
            </p:spPr>
            <p:style>
              <a:lnRef idx="2">
                <a:schemeClr val="dk1"/>
              </a:lnRef>
              <a:fillRef idx="1">
                <a:schemeClr val="lt1"/>
              </a:fillRef>
              <a:effectRef idx="0">
                <a:schemeClr val="dk1"/>
              </a:effectRef>
              <a:fontRef idx="minor">
                <a:schemeClr val="dk1"/>
              </a:fontRef>
            </p:style>
          </p:cxnSp>
          <p:cxnSp>
            <p:nvCxnSpPr>
              <p:cNvPr id="35" name="Straight Arrow Connector 34"/>
              <p:cNvCxnSpPr>
                <a:endCxn id="13" idx="1"/>
              </p:cNvCxnSpPr>
              <p:nvPr/>
            </p:nvCxnSpPr>
            <p:spPr>
              <a:xfrm>
                <a:off x="6305266" y="2073460"/>
                <a:ext cx="1219196"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7" name="Straight Arrow Connector 36"/>
              <p:cNvCxnSpPr>
                <a:stCxn id="13" idx="2"/>
              </p:cNvCxnSpPr>
              <p:nvPr/>
            </p:nvCxnSpPr>
            <p:spPr>
              <a:xfrm flipH="1">
                <a:off x="9155366" y="2384028"/>
                <a:ext cx="4" cy="45926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9" name="Straight Arrow Connector 38"/>
              <p:cNvCxnSpPr>
                <a:stCxn id="11" idx="2"/>
                <a:endCxn id="14" idx="0"/>
              </p:cNvCxnSpPr>
              <p:nvPr/>
            </p:nvCxnSpPr>
            <p:spPr>
              <a:xfrm flipH="1">
                <a:off x="9155368" y="3486032"/>
                <a:ext cx="1" cy="38777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1" name="Straight Arrow Connector 40"/>
              <p:cNvCxnSpPr>
                <a:stCxn id="14" idx="2"/>
                <a:endCxn id="15" idx="0"/>
              </p:cNvCxnSpPr>
              <p:nvPr/>
            </p:nvCxnSpPr>
            <p:spPr>
              <a:xfrm>
                <a:off x="9155368" y="4310533"/>
                <a:ext cx="0" cy="35687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3" name="Straight Arrow Connector 42"/>
              <p:cNvCxnSpPr>
                <a:stCxn id="15" idx="2"/>
                <a:endCxn id="16" idx="0"/>
              </p:cNvCxnSpPr>
              <p:nvPr/>
            </p:nvCxnSpPr>
            <p:spPr>
              <a:xfrm flipH="1">
                <a:off x="9155367" y="5104140"/>
                <a:ext cx="1" cy="55943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5" name="Straight Connector 44"/>
              <p:cNvCxnSpPr/>
              <p:nvPr/>
            </p:nvCxnSpPr>
            <p:spPr>
              <a:xfrm flipH="1">
                <a:off x="2567073" y="5663579"/>
                <a:ext cx="895249" cy="0"/>
              </a:xfrm>
              <a:prstGeom prst="line">
                <a:avLst/>
              </a:prstGeom>
              <a:ln/>
            </p:spPr>
            <p:style>
              <a:lnRef idx="2">
                <a:schemeClr val="dk1"/>
              </a:lnRef>
              <a:fillRef idx="1">
                <a:schemeClr val="lt1"/>
              </a:fillRef>
              <a:effectRef idx="0">
                <a:schemeClr val="dk1"/>
              </a:effectRef>
              <a:fontRef idx="minor">
                <a:schemeClr val="dk1"/>
              </a:fontRef>
            </p:style>
          </p:cxnSp>
          <p:cxnSp>
            <p:nvCxnSpPr>
              <p:cNvPr id="47" name="Straight Connector 46"/>
              <p:cNvCxnSpPr/>
              <p:nvPr/>
            </p:nvCxnSpPr>
            <p:spPr>
              <a:xfrm>
                <a:off x="2567073" y="5663579"/>
                <a:ext cx="0" cy="969233"/>
              </a:xfrm>
              <a:prstGeom prst="line">
                <a:avLst/>
              </a:prstGeom>
              <a:ln/>
            </p:spPr>
            <p:style>
              <a:lnRef idx="2">
                <a:schemeClr val="dk1"/>
              </a:lnRef>
              <a:fillRef idx="1">
                <a:schemeClr val="lt1"/>
              </a:fillRef>
              <a:effectRef idx="0">
                <a:schemeClr val="dk1"/>
              </a:effectRef>
              <a:fontRef idx="minor">
                <a:schemeClr val="dk1"/>
              </a:fontRef>
            </p:style>
          </p:cxnSp>
          <p:cxnSp>
            <p:nvCxnSpPr>
              <p:cNvPr id="49" name="Straight Connector 48"/>
              <p:cNvCxnSpPr/>
              <p:nvPr/>
            </p:nvCxnSpPr>
            <p:spPr>
              <a:xfrm>
                <a:off x="2567073" y="6632812"/>
                <a:ext cx="4347791" cy="0"/>
              </a:xfrm>
              <a:prstGeom prst="line">
                <a:avLst/>
              </a:prstGeom>
              <a:ln/>
            </p:spPr>
            <p:style>
              <a:lnRef idx="2">
                <a:schemeClr val="dk1"/>
              </a:lnRef>
              <a:fillRef idx="1">
                <a:schemeClr val="lt1"/>
              </a:fillRef>
              <a:effectRef idx="0">
                <a:schemeClr val="dk1"/>
              </a:effectRef>
              <a:fontRef idx="minor">
                <a:schemeClr val="dk1"/>
              </a:fontRef>
            </p:style>
          </p:cxnSp>
          <p:cxnSp>
            <p:nvCxnSpPr>
              <p:cNvPr id="51" name="Straight Connector 50"/>
              <p:cNvCxnSpPr/>
              <p:nvPr/>
            </p:nvCxnSpPr>
            <p:spPr>
              <a:xfrm flipV="1">
                <a:off x="6914864" y="5478491"/>
                <a:ext cx="0" cy="1154321"/>
              </a:xfrm>
              <a:prstGeom prst="line">
                <a:avLst/>
              </a:prstGeom>
              <a:ln/>
            </p:spPr>
            <p:style>
              <a:lnRef idx="2">
                <a:schemeClr val="dk1"/>
              </a:lnRef>
              <a:fillRef idx="1">
                <a:schemeClr val="lt1"/>
              </a:fillRef>
              <a:effectRef idx="0">
                <a:schemeClr val="dk1"/>
              </a:effectRef>
              <a:fontRef idx="minor">
                <a:schemeClr val="dk1"/>
              </a:fontRef>
            </p:style>
          </p:cxnSp>
          <p:cxnSp>
            <p:nvCxnSpPr>
              <p:cNvPr id="53" name="Straight Connector 52"/>
              <p:cNvCxnSpPr/>
              <p:nvPr/>
            </p:nvCxnSpPr>
            <p:spPr>
              <a:xfrm>
                <a:off x="6914864" y="5478491"/>
                <a:ext cx="2240502" cy="0"/>
              </a:xfrm>
              <a:prstGeom prst="line">
                <a:avLst/>
              </a:prstGeom>
              <a:ln/>
            </p:spPr>
            <p:style>
              <a:lnRef idx="2">
                <a:schemeClr val="dk1"/>
              </a:lnRef>
              <a:fillRef idx="1">
                <a:schemeClr val="lt1"/>
              </a:fillRef>
              <a:effectRef idx="0">
                <a:schemeClr val="dk1"/>
              </a:effectRef>
              <a:fontRef idx="minor">
                <a:schemeClr val="dk1"/>
              </a:fontRef>
            </p:style>
          </p:cxnSp>
        </p:grpSp>
        <p:sp>
          <p:nvSpPr>
            <p:cNvPr id="6" name="TextBox 5"/>
            <p:cNvSpPr txBox="1"/>
            <p:nvPr/>
          </p:nvSpPr>
          <p:spPr>
            <a:xfrm>
              <a:off x="2955511" y="5051730"/>
              <a:ext cx="1497285" cy="946893"/>
            </a:xfrm>
            <a:prstGeom prst="rect">
              <a:avLst/>
            </a:prstGeom>
            <a:noFill/>
          </p:spPr>
          <p:txBody>
            <a:bodyPr wrap="none" rtlCol="0">
              <a:spAutoFit/>
            </a:bodyPr>
            <a:lstStyle/>
            <a:p>
              <a:pPr algn="ctr"/>
              <a:r>
                <a:rPr lang="en-US" sz="1441" dirty="0"/>
                <a:t>If supervised</a:t>
              </a:r>
            </a:p>
            <a:p>
              <a:pPr algn="ctr"/>
              <a:r>
                <a:rPr lang="en-US" sz="1441" dirty="0"/>
                <a:t>?</a:t>
              </a:r>
            </a:p>
            <a:p>
              <a:endParaRPr lang="en-US" sz="1441" dirty="0"/>
            </a:p>
          </p:txBody>
        </p:sp>
      </p:grpSp>
      <p:sp>
        <p:nvSpPr>
          <p:cNvPr id="18" name="TextBox 17"/>
          <p:cNvSpPr txBox="1"/>
          <p:nvPr/>
        </p:nvSpPr>
        <p:spPr>
          <a:xfrm>
            <a:off x="4374189" y="4762130"/>
            <a:ext cx="424668" cy="314060"/>
          </a:xfrm>
          <a:prstGeom prst="rect">
            <a:avLst/>
          </a:prstGeom>
          <a:noFill/>
        </p:spPr>
        <p:txBody>
          <a:bodyPr wrap="none" rtlCol="0">
            <a:spAutoFit/>
          </a:bodyPr>
          <a:lstStyle/>
          <a:p>
            <a:r>
              <a:rPr lang="en-US" sz="1441" dirty="0"/>
              <a:t>Yes</a:t>
            </a:r>
          </a:p>
        </p:txBody>
      </p:sp>
      <p:sp>
        <p:nvSpPr>
          <p:cNvPr id="20" name="TextBox 19"/>
          <p:cNvSpPr txBox="1"/>
          <p:nvPr/>
        </p:nvSpPr>
        <p:spPr>
          <a:xfrm>
            <a:off x="2469588" y="4762130"/>
            <a:ext cx="401072" cy="314060"/>
          </a:xfrm>
          <a:prstGeom prst="rect">
            <a:avLst/>
          </a:prstGeom>
          <a:noFill/>
        </p:spPr>
        <p:txBody>
          <a:bodyPr wrap="none" rtlCol="0">
            <a:spAutoFit/>
          </a:bodyPr>
          <a:lstStyle/>
          <a:p>
            <a:r>
              <a:rPr lang="en-US" sz="1441" dirty="0"/>
              <a:t>No</a:t>
            </a:r>
          </a:p>
        </p:txBody>
      </p:sp>
    </p:spTree>
    <p:extLst>
      <p:ext uri="{BB962C8B-B14F-4D97-AF65-F5344CB8AC3E}">
        <p14:creationId xmlns:p14="http://schemas.microsoft.com/office/powerpoint/2010/main" val="4066638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3006043" y="5720658"/>
            <a:ext cx="4960708" cy="716222"/>
          </a:xfrm>
          <a:prstGeom prst="rect">
            <a:avLst/>
          </a:prstGeom>
          <a:noFill/>
        </p:spPr>
        <p:txBody>
          <a:bodyPr wrap="square" rtlCol="0">
            <a:spAutoFit/>
          </a:bodyPr>
          <a:lstStyle/>
          <a:p>
            <a:pPr algn="ctr"/>
            <a:r>
              <a:rPr lang="en-US" sz="2027" dirty="0">
                <a:latin typeface="Times New Roman" panose="02020603050405020304" pitchFamily="18" charset="0"/>
                <a:cs typeface="Times New Roman" panose="02020603050405020304" pitchFamily="18" charset="0"/>
              </a:rPr>
              <a:t>Fig 3: Block diagram of 10-fold cross validation</a:t>
            </a:r>
          </a:p>
        </p:txBody>
      </p:sp>
      <p:pic>
        <p:nvPicPr>
          <p:cNvPr id="3" name="Picture 2"/>
          <p:cNvPicPr>
            <a:picLocks noChangeAspect="1"/>
          </p:cNvPicPr>
          <p:nvPr/>
        </p:nvPicPr>
        <p:blipFill>
          <a:blip r:embed="rId3"/>
          <a:stretch>
            <a:fillRect/>
          </a:stretch>
        </p:blipFill>
        <p:spPr>
          <a:xfrm>
            <a:off x="1993271" y="1985207"/>
            <a:ext cx="6986251" cy="3401109"/>
          </a:xfrm>
          <a:prstGeom prst="rect">
            <a:avLst/>
          </a:prstGeom>
        </p:spPr>
      </p:pic>
      <p:sp>
        <p:nvSpPr>
          <p:cNvPr id="2" name="TextBox 1"/>
          <p:cNvSpPr txBox="1"/>
          <p:nvPr/>
        </p:nvSpPr>
        <p:spPr>
          <a:xfrm>
            <a:off x="2362200" y="609600"/>
            <a:ext cx="6795771" cy="707886"/>
          </a:xfrm>
          <a:prstGeom prst="rect">
            <a:avLst/>
          </a:prstGeom>
          <a:noFill/>
        </p:spPr>
        <p:txBody>
          <a:bodyPr wrap="none" rtlCol="0">
            <a:spAutoFit/>
          </a:bodyPr>
          <a:lstStyle/>
          <a:p>
            <a:r>
              <a:rPr lang="en-IN" sz="4000" b="1" u="sng" dirty="0">
                <a:latin typeface="Times New Roman" panose="02020603050405020304" pitchFamily="18" charset="0"/>
                <a:cs typeface="Times New Roman" panose="02020603050405020304" pitchFamily="18" charset="0"/>
              </a:rPr>
              <a:t>VALIDATION TECHNIQUE </a:t>
            </a:r>
          </a:p>
        </p:txBody>
      </p:sp>
    </p:spTree>
    <p:extLst>
      <p:ext uri="{BB962C8B-B14F-4D97-AF65-F5344CB8AC3E}">
        <p14:creationId xmlns:p14="http://schemas.microsoft.com/office/powerpoint/2010/main" val="3433708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55" y="1"/>
            <a:ext cx="8412480" cy="1077263"/>
          </a:xfrm>
        </p:spPr>
        <p:txBody>
          <a:bodyPr>
            <a:normAutofit/>
          </a:bodyPr>
          <a:lstStyle/>
          <a:p>
            <a:pPr algn="ctr"/>
            <a:r>
              <a:rPr lang="en-IN" sz="4000" b="1" u="sng" dirty="0">
                <a:latin typeface="Times New Roman" panose="02020603050405020304" pitchFamily="18" charset="0"/>
                <a:cs typeface="Times New Roman" panose="02020603050405020304" pitchFamily="18" charset="0"/>
              </a:rPr>
              <a:t>10-FOLD CROSS VALIDATION</a:t>
            </a:r>
          </a:p>
        </p:txBody>
      </p:sp>
      <p:sp>
        <p:nvSpPr>
          <p:cNvPr id="3" name="Content Placeholder 2"/>
          <p:cNvSpPr>
            <a:spLocks noGrp="1"/>
          </p:cNvSpPr>
          <p:nvPr>
            <p:ph idx="1"/>
          </p:nvPr>
        </p:nvSpPr>
        <p:spPr>
          <a:xfrm>
            <a:off x="1687287" y="902573"/>
            <a:ext cx="7598215" cy="1601337"/>
          </a:xfrm>
        </p:spPr>
        <p:txBody>
          <a:bodyPr>
            <a:noAutofit/>
          </a:bodyPr>
          <a:lstStyle/>
          <a:p>
            <a:pPr algn="just">
              <a:buFont typeface="Wingdings" panose="05000000000000000000" pitchFamily="2" charset="2"/>
              <a:buChar char="q"/>
            </a:pPr>
            <a:r>
              <a:rPr lang="en-IN" sz="1920" dirty="0">
                <a:latin typeface="Times New Roman" panose="02020603050405020304" pitchFamily="18" charset="0"/>
                <a:cs typeface="Times New Roman" panose="02020603050405020304" pitchFamily="18" charset="0"/>
              </a:rPr>
              <a:t>Data points of 303 instances are randomly assigned to 10 sets (approximately 30 instance in each dataset) </a:t>
            </a:r>
            <a:r>
              <a:rPr lang="en-IN" sz="1920" i="1" dirty="0">
                <a:latin typeface="Times New Roman" panose="02020603050405020304" pitchFamily="18" charset="0"/>
                <a:cs typeface="Times New Roman" panose="02020603050405020304" pitchFamily="18" charset="0"/>
              </a:rPr>
              <a:t>d</a:t>
            </a:r>
            <a:r>
              <a:rPr lang="en-IN" sz="1920" baseline="-25000" dirty="0">
                <a:latin typeface="Times New Roman" panose="02020603050405020304" pitchFamily="18" charset="0"/>
                <a:cs typeface="Times New Roman" panose="02020603050405020304" pitchFamily="18" charset="0"/>
              </a:rPr>
              <a:t>0</a:t>
            </a:r>
            <a:r>
              <a:rPr lang="en-IN" sz="1920" dirty="0">
                <a:latin typeface="Times New Roman" panose="02020603050405020304" pitchFamily="18" charset="0"/>
                <a:cs typeface="Times New Roman" panose="02020603050405020304" pitchFamily="18" charset="0"/>
              </a:rPr>
              <a:t>, </a:t>
            </a:r>
            <a:r>
              <a:rPr lang="en-IN" sz="1920" i="1" dirty="0">
                <a:latin typeface="Times New Roman" panose="02020603050405020304" pitchFamily="18" charset="0"/>
                <a:cs typeface="Times New Roman" panose="02020603050405020304" pitchFamily="18" charset="0"/>
              </a:rPr>
              <a:t>d</a:t>
            </a:r>
            <a:r>
              <a:rPr lang="en-IN" sz="1920" baseline="-25000" dirty="0">
                <a:latin typeface="Times New Roman" panose="02020603050405020304" pitchFamily="18" charset="0"/>
                <a:cs typeface="Times New Roman" panose="02020603050405020304" pitchFamily="18" charset="0"/>
              </a:rPr>
              <a:t>1</a:t>
            </a:r>
            <a:r>
              <a:rPr lang="en-IN" sz="1920" dirty="0">
                <a:latin typeface="Times New Roman" panose="02020603050405020304" pitchFamily="18" charset="0"/>
                <a:cs typeface="Times New Roman" panose="02020603050405020304" pitchFamily="18" charset="0"/>
              </a:rPr>
              <a:t>,…,</a:t>
            </a:r>
            <a:r>
              <a:rPr lang="en-IN" sz="1920" i="1" dirty="0">
                <a:latin typeface="Times New Roman" panose="02020603050405020304" pitchFamily="18" charset="0"/>
                <a:cs typeface="Times New Roman" panose="02020603050405020304" pitchFamily="18" charset="0"/>
              </a:rPr>
              <a:t> d</a:t>
            </a:r>
            <a:r>
              <a:rPr lang="en-IN" sz="1920" baseline="-25000" dirty="0">
                <a:latin typeface="Times New Roman" panose="02020603050405020304" pitchFamily="18" charset="0"/>
                <a:cs typeface="Times New Roman" panose="02020603050405020304" pitchFamily="18" charset="0"/>
              </a:rPr>
              <a:t>9</a:t>
            </a:r>
            <a:r>
              <a:rPr lang="en-IN" sz="1920" dirty="0">
                <a:latin typeface="Times New Roman" panose="02020603050405020304" pitchFamily="18" charset="0"/>
                <a:cs typeface="Times New Roman" panose="02020603050405020304" pitchFamily="18" charset="0"/>
              </a:rPr>
              <a:t> so that all the 10 sets are equal in size. </a:t>
            </a:r>
          </a:p>
          <a:p>
            <a:pPr algn="just">
              <a:buFont typeface="Wingdings" panose="05000000000000000000" pitchFamily="2" charset="2"/>
              <a:buChar char="q"/>
            </a:pPr>
            <a:r>
              <a:rPr lang="en-IN" sz="1920" dirty="0">
                <a:latin typeface="Times New Roman" panose="02020603050405020304" pitchFamily="18" charset="0"/>
                <a:cs typeface="Times New Roman" panose="02020603050405020304" pitchFamily="18" charset="0"/>
              </a:rPr>
              <a:t>We then train on </a:t>
            </a:r>
            <a:r>
              <a:rPr lang="en-IN" sz="1920" i="1" dirty="0">
                <a:latin typeface="Times New Roman" panose="02020603050405020304" pitchFamily="18" charset="0"/>
                <a:cs typeface="Times New Roman" panose="02020603050405020304" pitchFamily="18" charset="0"/>
              </a:rPr>
              <a:t>d</a:t>
            </a:r>
            <a:r>
              <a:rPr lang="en-IN" sz="1920" baseline="-25000" dirty="0">
                <a:latin typeface="Times New Roman" panose="02020603050405020304" pitchFamily="18" charset="0"/>
                <a:cs typeface="Times New Roman" panose="02020603050405020304" pitchFamily="18" charset="0"/>
              </a:rPr>
              <a:t>0</a:t>
            </a:r>
            <a:r>
              <a:rPr lang="en-IN" sz="1920" dirty="0">
                <a:latin typeface="Times New Roman" panose="02020603050405020304" pitchFamily="18" charset="0"/>
                <a:cs typeface="Times New Roman" panose="02020603050405020304" pitchFamily="18" charset="0"/>
              </a:rPr>
              <a:t>,</a:t>
            </a:r>
            <a:r>
              <a:rPr lang="en-IN" sz="1920" i="1" dirty="0">
                <a:latin typeface="Times New Roman" panose="02020603050405020304" pitchFamily="18" charset="0"/>
                <a:cs typeface="Times New Roman" panose="02020603050405020304" pitchFamily="18" charset="0"/>
              </a:rPr>
              <a:t> d</a:t>
            </a:r>
            <a:r>
              <a:rPr lang="en-IN" sz="1920" baseline="-25000" dirty="0">
                <a:latin typeface="Times New Roman" panose="02020603050405020304" pitchFamily="18" charset="0"/>
                <a:cs typeface="Times New Roman" panose="02020603050405020304" pitchFamily="18" charset="0"/>
              </a:rPr>
              <a:t>1</a:t>
            </a:r>
            <a:r>
              <a:rPr lang="en-IN" sz="1920" dirty="0">
                <a:latin typeface="Times New Roman" panose="02020603050405020304" pitchFamily="18" charset="0"/>
                <a:cs typeface="Times New Roman" panose="02020603050405020304" pitchFamily="18" charset="0"/>
              </a:rPr>
              <a:t>,…, </a:t>
            </a:r>
            <a:r>
              <a:rPr lang="en-IN" sz="1920" i="1" dirty="0">
                <a:latin typeface="Times New Roman" panose="02020603050405020304" pitchFamily="18" charset="0"/>
                <a:cs typeface="Times New Roman" panose="02020603050405020304" pitchFamily="18" charset="0"/>
              </a:rPr>
              <a:t>d</a:t>
            </a:r>
            <a:r>
              <a:rPr lang="en-IN" sz="1920" baseline="-25000" dirty="0">
                <a:latin typeface="Times New Roman" panose="02020603050405020304" pitchFamily="18" charset="0"/>
                <a:cs typeface="Times New Roman" panose="02020603050405020304" pitchFamily="18" charset="0"/>
              </a:rPr>
              <a:t>8 </a:t>
            </a:r>
            <a:r>
              <a:rPr lang="en-IN" sz="1920" dirty="0">
                <a:latin typeface="Times New Roman" panose="02020603050405020304" pitchFamily="18" charset="0"/>
                <a:cs typeface="Times New Roman" panose="02020603050405020304" pitchFamily="18" charset="0"/>
              </a:rPr>
              <a:t>and test on</a:t>
            </a:r>
            <a:r>
              <a:rPr lang="en-IN" sz="1920" i="1" dirty="0">
                <a:latin typeface="Times New Roman" panose="02020603050405020304" pitchFamily="18" charset="0"/>
                <a:cs typeface="Times New Roman" panose="02020603050405020304" pitchFamily="18" charset="0"/>
              </a:rPr>
              <a:t> d</a:t>
            </a:r>
            <a:r>
              <a:rPr lang="en-IN" sz="1920" baseline="-25000" dirty="0">
                <a:latin typeface="Times New Roman" panose="02020603050405020304" pitchFamily="18" charset="0"/>
                <a:cs typeface="Times New Roman" panose="02020603050405020304" pitchFamily="18" charset="0"/>
              </a:rPr>
              <a:t>9</a:t>
            </a:r>
            <a:r>
              <a:rPr lang="en-IN" sz="1920" dirty="0">
                <a:latin typeface="Times New Roman" panose="02020603050405020304" pitchFamily="18" charset="0"/>
                <a:cs typeface="Times New Roman" panose="02020603050405020304" pitchFamily="18" charset="0"/>
              </a:rPr>
              <a:t>, train on </a:t>
            </a:r>
            <a:r>
              <a:rPr lang="en-IN" sz="1920" i="1" dirty="0">
                <a:latin typeface="Times New Roman" panose="02020603050405020304" pitchFamily="18" charset="0"/>
                <a:cs typeface="Times New Roman" panose="02020603050405020304" pitchFamily="18" charset="0"/>
              </a:rPr>
              <a:t> d</a:t>
            </a:r>
            <a:r>
              <a:rPr lang="en-IN" sz="1920" baseline="-25000" dirty="0">
                <a:latin typeface="Times New Roman" panose="02020603050405020304" pitchFamily="18" charset="0"/>
                <a:cs typeface="Times New Roman" panose="02020603050405020304" pitchFamily="18" charset="0"/>
              </a:rPr>
              <a:t>0</a:t>
            </a:r>
            <a:r>
              <a:rPr lang="en-IN" sz="1920" dirty="0">
                <a:latin typeface="Times New Roman" panose="02020603050405020304" pitchFamily="18" charset="0"/>
                <a:cs typeface="Times New Roman" panose="02020603050405020304" pitchFamily="18" charset="0"/>
              </a:rPr>
              <a:t>,</a:t>
            </a:r>
            <a:r>
              <a:rPr lang="en-IN" sz="1920" i="1" dirty="0">
                <a:latin typeface="Times New Roman" panose="02020603050405020304" pitchFamily="18" charset="0"/>
                <a:cs typeface="Times New Roman" panose="02020603050405020304" pitchFamily="18" charset="0"/>
              </a:rPr>
              <a:t> d</a:t>
            </a:r>
            <a:r>
              <a:rPr lang="en-IN" sz="1920" baseline="-25000" dirty="0">
                <a:latin typeface="Times New Roman" panose="02020603050405020304" pitchFamily="18" charset="0"/>
                <a:cs typeface="Times New Roman" panose="02020603050405020304" pitchFamily="18" charset="0"/>
              </a:rPr>
              <a:t>1</a:t>
            </a:r>
            <a:r>
              <a:rPr lang="en-IN" sz="1920" dirty="0">
                <a:latin typeface="Times New Roman" panose="02020603050405020304" pitchFamily="18" charset="0"/>
                <a:cs typeface="Times New Roman" panose="02020603050405020304" pitchFamily="18" charset="0"/>
              </a:rPr>
              <a:t>,..., </a:t>
            </a:r>
            <a:r>
              <a:rPr lang="en-IN" sz="1920" i="1" dirty="0">
                <a:latin typeface="Times New Roman" panose="02020603050405020304" pitchFamily="18" charset="0"/>
                <a:cs typeface="Times New Roman" panose="02020603050405020304" pitchFamily="18" charset="0"/>
              </a:rPr>
              <a:t>d</a:t>
            </a:r>
            <a:r>
              <a:rPr lang="en-IN" sz="1920" baseline="-25000" dirty="0">
                <a:latin typeface="Times New Roman" panose="02020603050405020304" pitchFamily="18" charset="0"/>
                <a:cs typeface="Times New Roman" panose="02020603050405020304" pitchFamily="18" charset="0"/>
              </a:rPr>
              <a:t>9 </a:t>
            </a:r>
            <a:r>
              <a:rPr lang="en-IN" sz="1920" dirty="0">
                <a:latin typeface="Times New Roman" panose="02020603050405020304" pitchFamily="18" charset="0"/>
                <a:cs typeface="Times New Roman" panose="02020603050405020304" pitchFamily="18" charset="0"/>
              </a:rPr>
              <a:t>(except </a:t>
            </a:r>
            <a:r>
              <a:rPr lang="en-IN" sz="1920" i="1" dirty="0">
                <a:latin typeface="Times New Roman" panose="02020603050405020304" pitchFamily="18" charset="0"/>
                <a:cs typeface="Times New Roman" panose="02020603050405020304" pitchFamily="18" charset="0"/>
              </a:rPr>
              <a:t>d</a:t>
            </a:r>
            <a:r>
              <a:rPr lang="en-IN" sz="1920" baseline="-25000" dirty="0">
                <a:latin typeface="Times New Roman" panose="02020603050405020304" pitchFamily="18" charset="0"/>
                <a:cs typeface="Times New Roman" panose="02020603050405020304" pitchFamily="18" charset="0"/>
              </a:rPr>
              <a:t>8</a:t>
            </a:r>
            <a:r>
              <a:rPr lang="en-IN" sz="1920" dirty="0">
                <a:latin typeface="Times New Roman" panose="02020603050405020304" pitchFamily="18" charset="0"/>
                <a:cs typeface="Times New Roman" panose="02020603050405020304" pitchFamily="18" charset="0"/>
              </a:rPr>
              <a:t>) and test on </a:t>
            </a:r>
            <a:r>
              <a:rPr lang="en-IN" sz="1920" i="1" dirty="0">
                <a:latin typeface="Times New Roman" panose="02020603050405020304" pitchFamily="18" charset="0"/>
                <a:cs typeface="Times New Roman" panose="02020603050405020304" pitchFamily="18" charset="0"/>
              </a:rPr>
              <a:t>d</a:t>
            </a:r>
            <a:r>
              <a:rPr lang="en-IN" sz="1920" baseline="-25000" dirty="0">
                <a:latin typeface="Times New Roman" panose="02020603050405020304" pitchFamily="18" charset="0"/>
                <a:cs typeface="Times New Roman" panose="02020603050405020304" pitchFamily="18" charset="0"/>
              </a:rPr>
              <a:t>8 </a:t>
            </a:r>
            <a:r>
              <a:rPr lang="en-IN" sz="1920" dirty="0">
                <a:latin typeface="Times New Roman" panose="02020603050405020304" pitchFamily="18" charset="0"/>
                <a:cs typeface="Times New Roman" panose="02020603050405020304" pitchFamily="18" charset="0"/>
              </a:rPr>
              <a:t>, similarly followed by testing every single set.</a:t>
            </a:r>
            <a:r>
              <a:rPr lang="en-IN" sz="1920" baseline="-25000" dirty="0">
                <a:latin typeface="Times New Roman" panose="02020603050405020304" pitchFamily="18" charset="0"/>
                <a:cs typeface="Times New Roman" panose="02020603050405020304" pitchFamily="18" charset="0"/>
              </a:rPr>
              <a:t> </a:t>
            </a:r>
            <a:endParaRPr lang="en-IN" sz="192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2235194" y="2620370"/>
          <a:ext cx="6502400" cy="4454144"/>
        </p:xfrm>
        <a:graphic>
          <a:graphicData uri="http://schemas.openxmlformats.org/drawingml/2006/table">
            <a:tbl>
              <a:tblPr firstRow="1" bandRow="1">
                <a:tableStyleId>{5940675A-B579-460E-94D1-54222C63F5DA}</a:tableStyleId>
              </a:tblPr>
              <a:tblGrid>
                <a:gridCol w="1780887">
                  <a:extLst>
                    <a:ext uri="{9D8B030D-6E8A-4147-A177-3AD203B41FA5}">
                      <a16:colId xmlns:a16="http://schemas.microsoft.com/office/drawing/2014/main" val="20000"/>
                    </a:ext>
                  </a:extLst>
                </a:gridCol>
                <a:gridCol w="3057099">
                  <a:extLst>
                    <a:ext uri="{9D8B030D-6E8A-4147-A177-3AD203B41FA5}">
                      <a16:colId xmlns:a16="http://schemas.microsoft.com/office/drawing/2014/main" val="20001"/>
                    </a:ext>
                  </a:extLst>
                </a:gridCol>
                <a:gridCol w="1664414">
                  <a:extLst>
                    <a:ext uri="{9D8B030D-6E8A-4147-A177-3AD203B41FA5}">
                      <a16:colId xmlns:a16="http://schemas.microsoft.com/office/drawing/2014/main" val="20002"/>
                    </a:ext>
                  </a:extLst>
                </a:gridCol>
              </a:tblGrid>
              <a:tr h="390144">
                <a:tc>
                  <a:txBody>
                    <a:bodyPr/>
                    <a:lstStyle/>
                    <a:p>
                      <a:pPr algn="ctr"/>
                      <a:r>
                        <a:rPr lang="en-IN" sz="1900" b="1" dirty="0">
                          <a:latin typeface="Times New Roman" panose="02020603050405020304" pitchFamily="18" charset="0"/>
                          <a:cs typeface="Times New Roman" panose="02020603050405020304" pitchFamily="18" charset="0"/>
                        </a:rPr>
                        <a:t>Iteration No.</a:t>
                      </a:r>
                    </a:p>
                  </a:txBody>
                  <a:tcPr marL="97536" marR="97536" marT="48768" marB="48768"/>
                </a:tc>
                <a:tc>
                  <a:txBody>
                    <a:bodyPr/>
                    <a:lstStyle/>
                    <a:p>
                      <a:pPr algn="ctr"/>
                      <a:r>
                        <a:rPr lang="en-IN" sz="1900" b="1" dirty="0">
                          <a:latin typeface="Times New Roman" panose="02020603050405020304" pitchFamily="18" charset="0"/>
                          <a:cs typeface="Times New Roman" panose="02020603050405020304" pitchFamily="18" charset="0"/>
                        </a:rPr>
                        <a:t>Training Set</a:t>
                      </a:r>
                    </a:p>
                  </a:txBody>
                  <a:tcPr marL="97536" marR="97536" marT="48768" marB="48768"/>
                </a:tc>
                <a:tc>
                  <a:txBody>
                    <a:bodyPr/>
                    <a:lstStyle/>
                    <a:p>
                      <a:pPr algn="ctr"/>
                      <a:r>
                        <a:rPr lang="en-IN" sz="1900" b="1" dirty="0">
                          <a:latin typeface="Times New Roman" panose="02020603050405020304" pitchFamily="18" charset="0"/>
                          <a:cs typeface="Times New Roman" panose="02020603050405020304" pitchFamily="18" charset="0"/>
                        </a:rPr>
                        <a:t>Testing</a:t>
                      </a:r>
                      <a:r>
                        <a:rPr lang="en-IN" sz="1900" b="1" baseline="0" dirty="0">
                          <a:latin typeface="Times New Roman" panose="02020603050405020304" pitchFamily="18" charset="0"/>
                          <a:cs typeface="Times New Roman" panose="02020603050405020304" pitchFamily="18" charset="0"/>
                        </a:rPr>
                        <a:t> Set</a:t>
                      </a:r>
                      <a:endParaRPr lang="en-IN" sz="1900" b="1" dirty="0">
                        <a:latin typeface="Times New Roman" panose="02020603050405020304" pitchFamily="18" charset="0"/>
                        <a:cs typeface="Times New Roman" panose="02020603050405020304" pitchFamily="18" charset="0"/>
                      </a:endParaRPr>
                    </a:p>
                  </a:txBody>
                  <a:tcPr marL="97536" marR="97536" marT="48768" marB="48768"/>
                </a:tc>
                <a:extLst>
                  <a:ext uri="{0D108BD9-81ED-4DB2-BD59-A6C34878D82A}">
                    <a16:rowId xmlns:a16="http://schemas.microsoft.com/office/drawing/2014/main" val="10000"/>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900" baseline="0" dirty="0"/>
                        <a:t>1.</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0</a:t>
                      </a:r>
                    </a:p>
                  </a:txBody>
                  <a:tcPr marL="97536" marR="97536" marT="48768" marB="48768"/>
                </a:tc>
                <a:extLst>
                  <a:ext uri="{0D108BD9-81ED-4DB2-BD59-A6C34878D82A}">
                    <a16:rowId xmlns:a16="http://schemas.microsoft.com/office/drawing/2014/main" val="10001"/>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2.</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1</a:t>
                      </a:r>
                    </a:p>
                  </a:txBody>
                  <a:tcPr marL="97536" marR="97536" marT="48768" marB="48768"/>
                </a:tc>
                <a:extLst>
                  <a:ext uri="{0D108BD9-81ED-4DB2-BD59-A6C34878D82A}">
                    <a16:rowId xmlns:a16="http://schemas.microsoft.com/office/drawing/2014/main" val="10002"/>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3.</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2</a:t>
                      </a:r>
                    </a:p>
                  </a:txBody>
                  <a:tcPr marL="97536" marR="97536" marT="48768" marB="48768"/>
                </a:tc>
                <a:extLst>
                  <a:ext uri="{0D108BD9-81ED-4DB2-BD59-A6C34878D82A}">
                    <a16:rowId xmlns:a16="http://schemas.microsoft.com/office/drawing/2014/main" val="10003"/>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4.</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3</a:t>
                      </a:r>
                    </a:p>
                  </a:txBody>
                  <a:tcPr marL="97536" marR="97536" marT="48768" marB="48768"/>
                </a:tc>
                <a:extLst>
                  <a:ext uri="{0D108BD9-81ED-4DB2-BD59-A6C34878D82A}">
                    <a16:rowId xmlns:a16="http://schemas.microsoft.com/office/drawing/2014/main" val="10004"/>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5.</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4</a:t>
                      </a:r>
                    </a:p>
                  </a:txBody>
                  <a:tcPr marL="97536" marR="97536" marT="48768" marB="48768"/>
                </a:tc>
                <a:extLst>
                  <a:ext uri="{0D108BD9-81ED-4DB2-BD59-A6C34878D82A}">
                    <a16:rowId xmlns:a16="http://schemas.microsoft.com/office/drawing/2014/main" val="10005"/>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6.</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5</a:t>
                      </a:r>
                    </a:p>
                  </a:txBody>
                  <a:tcPr marL="97536" marR="97536" marT="48768" marB="48768"/>
                </a:tc>
                <a:extLst>
                  <a:ext uri="{0D108BD9-81ED-4DB2-BD59-A6C34878D82A}">
                    <a16:rowId xmlns:a16="http://schemas.microsoft.com/office/drawing/2014/main" val="10006"/>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7.</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7</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6</a:t>
                      </a:r>
                    </a:p>
                  </a:txBody>
                  <a:tcPr marL="97536" marR="97536" marT="48768" marB="48768"/>
                </a:tc>
                <a:extLst>
                  <a:ext uri="{0D108BD9-81ED-4DB2-BD59-A6C34878D82A}">
                    <a16:rowId xmlns:a16="http://schemas.microsoft.com/office/drawing/2014/main" val="10007"/>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8.</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8</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7</a:t>
                      </a:r>
                    </a:p>
                  </a:txBody>
                  <a:tcPr marL="97536" marR="97536" marT="48768" marB="48768"/>
                </a:tc>
                <a:extLst>
                  <a:ext uri="{0D108BD9-81ED-4DB2-BD59-A6C34878D82A}">
                    <a16:rowId xmlns:a16="http://schemas.microsoft.com/office/drawing/2014/main" val="10008"/>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9.</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9</a:t>
                      </a:r>
                    </a:p>
                  </a:txBody>
                  <a:tcPr marL="97536" marR="97536" marT="48768" marB="48768"/>
                </a:tc>
                <a:tc>
                  <a:txBody>
                    <a:bodyPr/>
                    <a:lstStyle/>
                    <a:p>
                      <a:pPr algn="ctr"/>
                      <a:r>
                        <a:rPr lang="en-IN" sz="2000" i="0" dirty="0"/>
                        <a:t>d</a:t>
                      </a:r>
                      <a:r>
                        <a:rPr lang="en-IN" sz="2000" i="0" baseline="-25000" dirty="0"/>
                        <a:t>8</a:t>
                      </a:r>
                    </a:p>
                  </a:txBody>
                  <a:tcPr marL="97536" marR="97536" marT="48768" marB="48768"/>
                </a:tc>
                <a:extLst>
                  <a:ext uri="{0D108BD9-81ED-4DB2-BD59-A6C34878D82A}">
                    <a16:rowId xmlns:a16="http://schemas.microsoft.com/office/drawing/2014/main" val="10009"/>
                  </a:ext>
                </a:extLst>
              </a:tr>
              <a:tr h="4064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aseline="0" dirty="0"/>
                        <a:t>10.</a:t>
                      </a:r>
                    </a:p>
                  </a:txBody>
                  <a:tcPr marL="97536" marR="97536" marT="48768" marB="4876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i="0" dirty="0"/>
                        <a:t>d</a:t>
                      </a:r>
                      <a:r>
                        <a:rPr lang="en-IN" sz="2000" i="0" baseline="-25000" dirty="0"/>
                        <a:t>0</a:t>
                      </a:r>
                      <a:r>
                        <a:rPr lang="en-IN" sz="2000" i="0" dirty="0"/>
                        <a:t>,d</a:t>
                      </a:r>
                      <a:r>
                        <a:rPr lang="en-IN" sz="2000" i="0" baseline="-25000" dirty="0"/>
                        <a:t>1</a:t>
                      </a:r>
                      <a:r>
                        <a:rPr lang="en-IN" sz="2000" i="0" dirty="0"/>
                        <a:t>,d</a:t>
                      </a:r>
                      <a:r>
                        <a:rPr lang="en-IN" sz="2000" i="0" baseline="-25000" dirty="0"/>
                        <a:t>2</a:t>
                      </a:r>
                      <a:r>
                        <a:rPr lang="en-IN" sz="2000" i="0" dirty="0"/>
                        <a:t>,d</a:t>
                      </a:r>
                      <a:r>
                        <a:rPr lang="en-IN" sz="2000" i="0" baseline="-25000" dirty="0"/>
                        <a:t>3</a:t>
                      </a:r>
                      <a:r>
                        <a:rPr lang="en-IN" sz="2000" i="0" dirty="0"/>
                        <a:t>,d</a:t>
                      </a:r>
                      <a:r>
                        <a:rPr lang="en-IN" sz="2000" i="0" baseline="-25000" dirty="0"/>
                        <a:t>4</a:t>
                      </a:r>
                      <a:r>
                        <a:rPr lang="en-IN" sz="2000" i="0" dirty="0"/>
                        <a:t>,d</a:t>
                      </a:r>
                      <a:r>
                        <a:rPr lang="en-IN" sz="2000" i="0" baseline="-25000" dirty="0"/>
                        <a:t>5</a:t>
                      </a:r>
                      <a:r>
                        <a:rPr lang="en-IN" sz="2000" i="0" dirty="0"/>
                        <a:t>,d</a:t>
                      </a:r>
                      <a:r>
                        <a:rPr lang="en-IN" sz="2000" i="0" baseline="-25000" dirty="0"/>
                        <a:t>6</a:t>
                      </a:r>
                      <a:r>
                        <a:rPr lang="en-IN" sz="2000" i="0" dirty="0"/>
                        <a:t>,d</a:t>
                      </a:r>
                      <a:r>
                        <a:rPr lang="en-IN" sz="2000" i="0" baseline="-25000" dirty="0"/>
                        <a:t>7</a:t>
                      </a:r>
                      <a:r>
                        <a:rPr lang="en-IN" sz="2000" i="0" dirty="0"/>
                        <a:t>,d</a:t>
                      </a:r>
                      <a:r>
                        <a:rPr lang="en-IN" sz="2000" i="0" baseline="-25000" dirty="0"/>
                        <a:t>8</a:t>
                      </a:r>
                    </a:p>
                  </a:txBody>
                  <a:tcPr marL="97536" marR="97536" marT="48768" marB="48768"/>
                </a:tc>
                <a:tc>
                  <a:txBody>
                    <a:bodyPr/>
                    <a:lstStyle/>
                    <a:p>
                      <a:pPr algn="ctr"/>
                      <a:r>
                        <a:rPr lang="en-IN" sz="2000" i="0" dirty="0"/>
                        <a:t>d</a:t>
                      </a:r>
                      <a:r>
                        <a:rPr lang="en-IN" sz="2000" i="0" baseline="-25000" dirty="0"/>
                        <a:t>9</a:t>
                      </a:r>
                    </a:p>
                  </a:txBody>
                  <a:tcPr marL="97536" marR="97536" marT="48768" marB="48768"/>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43307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10515599" cy="6248400"/>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The attributes used are : </a:t>
            </a:r>
            <a:endParaRPr lang="en-US" sz="20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age: age in years</a:t>
            </a:r>
          </a:p>
          <a:p>
            <a:pPr lvl="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sex: sex (1 = male; 0 = female)</a:t>
            </a:r>
          </a:p>
          <a:p>
            <a:pPr lvl="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cp: chest pain type</a:t>
            </a:r>
          </a:p>
          <a:p>
            <a:pPr marL="0" lvl="0" indent="0">
              <a:buNone/>
            </a:pPr>
            <a:r>
              <a:rPr lang="en-US" sz="2000" dirty="0">
                <a:latin typeface="Times New Roman" panose="02020603050405020304" pitchFamily="18" charset="0"/>
                <a:cs typeface="Times New Roman" panose="02020603050405020304" pitchFamily="18" charset="0"/>
              </a:rPr>
              <a:t>	-- Value 0: typical angina</a:t>
            </a:r>
          </a:p>
          <a:p>
            <a:pPr marL="422892" lvl="1" indent="0">
              <a:buNone/>
            </a:pPr>
            <a:r>
              <a:rPr lang="en-US" sz="2000" dirty="0">
                <a:latin typeface="Times New Roman" panose="02020603050405020304" pitchFamily="18" charset="0"/>
                <a:cs typeface="Times New Roman" panose="02020603050405020304" pitchFamily="18" charset="0"/>
              </a:rPr>
              <a:t>	-- Value 1: atypical angina</a:t>
            </a:r>
          </a:p>
          <a:p>
            <a:pPr marL="422892" lvl="1" indent="0">
              <a:buNone/>
            </a:pPr>
            <a:r>
              <a:rPr lang="en-US" sz="2000" dirty="0">
                <a:latin typeface="Times New Roman" panose="02020603050405020304" pitchFamily="18" charset="0"/>
                <a:cs typeface="Times New Roman" panose="02020603050405020304" pitchFamily="18" charset="0"/>
              </a:rPr>
              <a:t>	-- Value 2: non-anginal pain</a:t>
            </a:r>
          </a:p>
          <a:p>
            <a:pPr marL="422892" lvl="1" indent="0">
              <a:buNone/>
            </a:pPr>
            <a:r>
              <a:rPr lang="en-US" sz="2000" dirty="0">
                <a:latin typeface="Times New Roman" panose="02020603050405020304" pitchFamily="18" charset="0"/>
                <a:cs typeface="Times New Roman" panose="02020603050405020304" pitchFamily="18" charset="0"/>
              </a:rPr>
              <a:t>	-- Value 3: asymptomatic</a:t>
            </a:r>
          </a:p>
          <a:p>
            <a:pPr lvl="0">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trestbps</a:t>
            </a:r>
            <a:r>
              <a:rPr lang="en-US" sz="2000" dirty="0">
                <a:latin typeface="Times New Roman" panose="02020603050405020304" pitchFamily="18" charset="0"/>
                <a:cs typeface="Times New Roman" panose="02020603050405020304" pitchFamily="18" charset="0"/>
              </a:rPr>
              <a:t>: resting blood pressure (in mm Hg on admission to the hospital)</a:t>
            </a:r>
          </a:p>
          <a:p>
            <a:pPr lvl="0">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chol</a:t>
            </a:r>
            <a:r>
              <a:rPr lang="en-US" sz="2000" dirty="0">
                <a:latin typeface="Times New Roman" panose="02020603050405020304" pitchFamily="18" charset="0"/>
                <a:cs typeface="Times New Roman" panose="02020603050405020304" pitchFamily="18" charset="0"/>
              </a:rPr>
              <a:t>: serum </a:t>
            </a:r>
            <a:r>
              <a:rPr lang="en-US" sz="2000" dirty="0" err="1">
                <a:latin typeface="Times New Roman" panose="02020603050405020304" pitchFamily="18" charset="0"/>
                <a:cs typeface="Times New Roman" panose="02020603050405020304" pitchFamily="18" charset="0"/>
              </a:rPr>
              <a:t>cholestoral</a:t>
            </a:r>
            <a:r>
              <a:rPr lang="en-US" sz="2000" dirty="0">
                <a:latin typeface="Times New Roman" panose="02020603050405020304" pitchFamily="18" charset="0"/>
                <a:cs typeface="Times New Roman" panose="02020603050405020304" pitchFamily="18" charset="0"/>
              </a:rPr>
              <a:t> in mg/dl</a:t>
            </a:r>
          </a:p>
          <a:p>
            <a:pPr lvl="0">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fbs</a:t>
            </a:r>
            <a:r>
              <a:rPr lang="en-US" sz="2000" dirty="0">
                <a:latin typeface="Times New Roman" panose="02020603050405020304" pitchFamily="18" charset="0"/>
                <a:cs typeface="Times New Roman" panose="02020603050405020304" pitchFamily="18" charset="0"/>
              </a:rPr>
              <a:t>: (fasting blood sugar &gt; 120 mg/dl) (1 = true; 0 = false)</a:t>
            </a:r>
          </a:p>
          <a:p>
            <a:pPr lvl="0">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restecg</a:t>
            </a:r>
            <a:r>
              <a:rPr lang="en-US" sz="2000" dirty="0">
                <a:latin typeface="Times New Roman" panose="02020603050405020304" pitchFamily="18" charset="0"/>
                <a:cs typeface="Times New Roman" panose="02020603050405020304" pitchFamily="18" charset="0"/>
              </a:rPr>
              <a:t>: resting electrocardiographic results</a:t>
            </a:r>
          </a:p>
          <a:p>
            <a:pPr marL="0" lvl="0" indent="0">
              <a:buNone/>
            </a:pPr>
            <a:r>
              <a:rPr lang="en-US" sz="2000" dirty="0">
                <a:latin typeface="Times New Roman" panose="02020603050405020304" pitchFamily="18" charset="0"/>
                <a:cs typeface="Times New Roman" panose="02020603050405020304" pitchFamily="18" charset="0"/>
              </a:rPr>
              <a:t>    	  -- Value 0: normal</a:t>
            </a:r>
          </a:p>
          <a:p>
            <a:pPr marL="0" lvl="0" indent="0">
              <a:buNone/>
            </a:pPr>
            <a:r>
              <a:rPr lang="en-US" sz="2000" dirty="0">
                <a:latin typeface="Times New Roman" panose="02020603050405020304" pitchFamily="18" charset="0"/>
                <a:cs typeface="Times New Roman" panose="02020603050405020304" pitchFamily="18" charset="0"/>
              </a:rPr>
              <a:t>     	 -- Value 1: having ST-T wave abnormality (T wave inversions and/or ST elevation or 	     depression of &gt; 0.05 mV)</a:t>
            </a:r>
          </a:p>
          <a:p>
            <a:pPr marL="0" indent="0" algn="just">
              <a:buNone/>
            </a:pPr>
            <a:endParaRPr lang="en-IN" sz="1920" dirty="0">
              <a:latin typeface="Times New Roman" panose="02020603050405020304" pitchFamily="18" charset="0"/>
              <a:cs typeface="Times New Roman" panose="02020603050405020304" pitchFamily="18" charset="0"/>
            </a:endParaRPr>
          </a:p>
          <a:p>
            <a:endParaRPr lang="en-IN" sz="192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1323831" y="0"/>
            <a:ext cx="8412480" cy="1413934"/>
          </a:xfrm>
        </p:spPr>
        <p:txBody>
          <a:bodyPr>
            <a:normAutofit/>
          </a:bodyPr>
          <a:lstStyle/>
          <a:p>
            <a:pPr algn="ctr"/>
            <a:r>
              <a:rPr lang="en-IN" sz="4000" b="1" u="sng" dirty="0">
                <a:latin typeface="Times New Roman" panose="02020603050405020304" pitchFamily="18" charset="0"/>
                <a:cs typeface="Times New Roman" panose="02020603050405020304" pitchFamily="18" charset="0"/>
              </a:rPr>
              <a:t>ATTRIBUTES USED</a:t>
            </a:r>
          </a:p>
        </p:txBody>
      </p:sp>
    </p:spTree>
    <p:extLst>
      <p:ext uri="{BB962C8B-B14F-4D97-AF65-F5344CB8AC3E}">
        <p14:creationId xmlns:p14="http://schemas.microsoft.com/office/powerpoint/2010/main" val="320533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10134600" cy="6553200"/>
          </a:xfrm>
        </p:spPr>
        <p:txBody>
          <a:bodyPr>
            <a:noAutofit/>
          </a:bodyPr>
          <a:lstStyle/>
          <a:p>
            <a:pPr marL="0" lvl="0" indent="0">
              <a:lnSpc>
                <a:spcPct val="150000"/>
              </a:lnSpc>
              <a:buNone/>
            </a:pPr>
            <a:r>
              <a:rPr lang="en-US" sz="2000" dirty="0">
                <a:latin typeface="Times New Roman" panose="02020603050405020304" pitchFamily="18" charset="0"/>
                <a:cs typeface="Times New Roman" panose="02020603050405020304" pitchFamily="18" charset="0"/>
              </a:rPr>
              <a:t>	-- Value 2: showing probable or definite left ventricular hypertrophy by Estes' criteria</a:t>
            </a:r>
          </a:p>
          <a:p>
            <a:pPr lvl="0">
              <a:lnSpc>
                <a:spcPct val="150000"/>
              </a:lnSpc>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thalach</a:t>
            </a:r>
            <a:r>
              <a:rPr lang="en-US" sz="2000" dirty="0">
                <a:latin typeface="Times New Roman" panose="02020603050405020304" pitchFamily="18" charset="0"/>
                <a:cs typeface="Times New Roman" panose="02020603050405020304" pitchFamily="18" charset="0"/>
              </a:rPr>
              <a:t>: maximum heart rate achieved</a:t>
            </a:r>
          </a:p>
          <a:p>
            <a:pPr lvl="0">
              <a:lnSpc>
                <a:spcPct val="150000"/>
              </a:lnSpc>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exang</a:t>
            </a:r>
            <a:r>
              <a:rPr lang="en-US" sz="2000" dirty="0">
                <a:latin typeface="Times New Roman" panose="02020603050405020304" pitchFamily="18" charset="0"/>
                <a:cs typeface="Times New Roman" panose="02020603050405020304" pitchFamily="18" charset="0"/>
              </a:rPr>
              <a:t>: exercise induced angina (1 = yes; 0 = no)</a:t>
            </a:r>
          </a:p>
          <a:p>
            <a:pPr lvl="0">
              <a:lnSpc>
                <a:spcPct val="150000"/>
              </a:lnSpc>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oldpeak</a:t>
            </a:r>
            <a:r>
              <a:rPr lang="en-US" sz="2000" dirty="0">
                <a:latin typeface="Times New Roman" panose="02020603050405020304" pitchFamily="18" charset="0"/>
                <a:cs typeface="Times New Roman" panose="02020603050405020304" pitchFamily="18" charset="0"/>
              </a:rPr>
              <a:t> = ST depression induced by exercise relative to rest</a:t>
            </a:r>
          </a:p>
          <a:p>
            <a:pPr lvl="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slope: the slope of the peak exercise ST segment</a:t>
            </a:r>
          </a:p>
          <a:p>
            <a:pPr marL="0" lvl="0" indent="0">
              <a:lnSpc>
                <a:spcPct val="150000"/>
              </a:lnSpc>
              <a:buNone/>
            </a:pPr>
            <a:r>
              <a:rPr lang="en-US" sz="2000" dirty="0">
                <a:latin typeface="Times New Roman" panose="02020603050405020304" pitchFamily="18" charset="0"/>
                <a:cs typeface="Times New Roman" panose="02020603050405020304" pitchFamily="18" charset="0"/>
              </a:rPr>
              <a:t>	-- Value 0: upsloping</a:t>
            </a:r>
          </a:p>
          <a:p>
            <a:pPr marL="0" lvl="0" indent="0">
              <a:lnSpc>
                <a:spcPct val="150000"/>
              </a:lnSpc>
              <a:buNone/>
            </a:pPr>
            <a:r>
              <a:rPr lang="en-US" sz="2000" dirty="0">
                <a:latin typeface="Times New Roman" panose="02020603050405020304" pitchFamily="18" charset="0"/>
                <a:cs typeface="Times New Roman" panose="02020603050405020304" pitchFamily="18" charset="0"/>
              </a:rPr>
              <a:t>	-- Value 1: flat</a:t>
            </a:r>
          </a:p>
          <a:p>
            <a:pPr marL="0" lvl="0" indent="0">
              <a:lnSpc>
                <a:spcPct val="150000"/>
              </a:lnSpc>
              <a:buNone/>
            </a:pPr>
            <a:r>
              <a:rPr lang="en-US" sz="2000" dirty="0">
                <a:latin typeface="Times New Roman" panose="02020603050405020304" pitchFamily="18" charset="0"/>
                <a:cs typeface="Times New Roman" panose="02020603050405020304" pitchFamily="18" charset="0"/>
              </a:rPr>
              <a:t>	-- Value 2: </a:t>
            </a:r>
            <a:r>
              <a:rPr lang="en-US" sz="2000" dirty="0" err="1">
                <a:latin typeface="Times New Roman" panose="02020603050405020304" pitchFamily="18" charset="0"/>
                <a:cs typeface="Times New Roman" panose="02020603050405020304" pitchFamily="18" charset="0"/>
              </a:rPr>
              <a:t>downsloping</a:t>
            </a:r>
            <a:endParaRPr lang="en-US" sz="20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 number of major vessels (0-3) colored by </a:t>
            </a:r>
            <a:r>
              <a:rPr lang="en-US" sz="2000" dirty="0" err="1">
                <a:latin typeface="Times New Roman" panose="02020603050405020304" pitchFamily="18" charset="0"/>
                <a:cs typeface="Times New Roman" panose="02020603050405020304" pitchFamily="18" charset="0"/>
              </a:rPr>
              <a:t>flourosopy</a:t>
            </a:r>
            <a:endParaRPr lang="en-US" sz="20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thal</a:t>
            </a:r>
            <a:r>
              <a:rPr lang="en-US" sz="2000" dirty="0">
                <a:latin typeface="Times New Roman" panose="02020603050405020304" pitchFamily="18" charset="0"/>
                <a:cs typeface="Times New Roman" panose="02020603050405020304" pitchFamily="18" charset="0"/>
              </a:rPr>
              <a:t>: 0 = normal; 1 = fixed defect; 2 = reversable defect</a:t>
            </a:r>
          </a:p>
          <a:p>
            <a:pPr lvl="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and the label condition: 0 = no disease, 1 = disease</a:t>
            </a:r>
            <a:endParaRPr lang="en-IN" sz="1600" dirty="0">
              <a:latin typeface="Times New Roman" panose="02020603050405020304" pitchFamily="18" charset="0"/>
              <a:cs typeface="Times New Roman" panose="02020603050405020304" pitchFamily="18" charset="0"/>
            </a:endParaRPr>
          </a:p>
          <a:p>
            <a:endParaRPr lang="en-IN" sz="1920" dirty="0"/>
          </a:p>
        </p:txBody>
      </p:sp>
    </p:spTree>
    <p:extLst>
      <p:ext uri="{BB962C8B-B14F-4D97-AF65-F5344CB8AC3E}">
        <p14:creationId xmlns:p14="http://schemas.microsoft.com/office/powerpoint/2010/main" val="3783323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1D40-505D-A7A1-623E-C0BD64388243}"/>
              </a:ext>
            </a:extLst>
          </p:cNvPr>
          <p:cNvSpPr>
            <a:spLocks noGrp="1"/>
          </p:cNvSpPr>
          <p:nvPr>
            <p:ph type="title"/>
          </p:nvPr>
        </p:nvSpPr>
        <p:spPr/>
        <p:txBody>
          <a:bodyPr/>
          <a:lstStyle/>
          <a:p>
            <a:r>
              <a:rPr lang="en-US" sz="4400" b="1" u="sng" dirty="0">
                <a:latin typeface="Times New Roman" panose="02020603050405020304" pitchFamily="18" charset="0"/>
                <a:cs typeface="Times New Roman" panose="02020603050405020304" pitchFamily="18" charset="0"/>
              </a:rPr>
              <a:t>ADVANTAGES</a:t>
            </a:r>
            <a:endParaRPr lang="en-US" dirty="0"/>
          </a:p>
        </p:txBody>
      </p:sp>
      <p:sp>
        <p:nvSpPr>
          <p:cNvPr id="5" name="Content Placeholder 4">
            <a:extLst>
              <a:ext uri="{FF2B5EF4-FFF2-40B4-BE49-F238E27FC236}">
                <a16:creationId xmlns:a16="http://schemas.microsoft.com/office/drawing/2014/main" id="{D1886204-9C1A-EE25-DDD6-B4A0331031A2}"/>
              </a:ext>
            </a:extLst>
          </p:cNvPr>
          <p:cNvSpPr>
            <a:spLocks noGrp="1"/>
          </p:cNvSpPr>
          <p:nvPr>
            <p:ph idx="1"/>
          </p:nvPr>
        </p:nvSpPr>
        <p:spPr>
          <a:xfrm>
            <a:off x="304800" y="1371600"/>
            <a:ext cx="10119360" cy="5162976"/>
          </a:xfrm>
        </p:spPr>
        <p:txBody>
          <a:bodyPr>
            <a:normAutofit/>
          </a:bodyPr>
          <a:lstStyle/>
          <a:p>
            <a:pPr>
              <a:buFont typeface="Wingdings" panose="05000000000000000000" pitchFamily="2" charset="2"/>
              <a:buChar char="Ø"/>
            </a:pPr>
            <a:r>
              <a:rPr lang="en-US" sz="2400" dirty="0">
                <a:effectLst/>
                <a:latin typeface="Times New Roman" panose="02020603050405020304" pitchFamily="18" charset="0"/>
                <a:cs typeface="Times New Roman" panose="02020603050405020304" pitchFamily="18" charset="0"/>
              </a:rPr>
              <a:t>ML spots heart disease early by analyzing patient data for subtle patterns and indicators.</a:t>
            </a:r>
          </a:p>
          <a:p>
            <a:pPr>
              <a:buFont typeface="Wingdings" panose="05000000000000000000" pitchFamily="2" charset="2"/>
              <a:buChar char="Ø"/>
            </a:pPr>
            <a:endParaRPr lang="en-US" sz="240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effectLst/>
                <a:latin typeface="Times New Roman" panose="02020603050405020304" pitchFamily="18" charset="0"/>
                <a:cs typeface="Times New Roman" panose="02020603050405020304" pitchFamily="18" charset="0"/>
              </a:rPr>
              <a:t>ML combines health records and imaging, offering a comprehensive view of a patient's health.</a:t>
            </a:r>
          </a:p>
          <a:p>
            <a:pPr>
              <a:buFont typeface="Wingdings" panose="05000000000000000000" pitchFamily="2" charset="2"/>
              <a:buChar char="Ø"/>
            </a:pPr>
            <a:endParaRPr lang="en-US" sz="240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effectLst/>
                <a:latin typeface="Times New Roman" panose="02020603050405020304" pitchFamily="18" charset="0"/>
                <a:cs typeface="Times New Roman" panose="02020603050405020304" pitchFamily="18" charset="0"/>
              </a:rPr>
              <a:t>Early detection and prevention cut costs by reducing the need for expensive interventions.</a:t>
            </a:r>
          </a:p>
          <a:p>
            <a:pPr>
              <a:buFont typeface="Wingdings" panose="05000000000000000000" pitchFamily="2" charset="2"/>
              <a:buChar char="Ø"/>
            </a:pPr>
            <a:endParaRPr lang="en-US" sz="240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effectLst/>
                <a:latin typeface="Times New Roman" panose="02020603050405020304" pitchFamily="18" charset="0"/>
                <a:cs typeface="Times New Roman" panose="02020603050405020304" pitchFamily="18" charset="0"/>
              </a:rPr>
              <a:t>AI and ML strategies contribute to population-level heart disease prevention and early intervention.</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652425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2098" y="262314"/>
            <a:ext cx="8412480" cy="1060450"/>
          </a:xfrm>
        </p:spPr>
        <p:txBody>
          <a:bodyPr>
            <a:normAutofit/>
          </a:bodyPr>
          <a:lstStyle/>
          <a:p>
            <a:pPr algn="ctr"/>
            <a:r>
              <a:rPr lang="en-US" sz="2560" b="1" u="sng" dirty="0">
                <a:latin typeface="Times New Roman" panose="02020603050405020304" pitchFamily="18" charset="0"/>
                <a:cs typeface="Times New Roman" panose="02020603050405020304" pitchFamily="18" charset="0"/>
              </a:rPr>
              <a:t>LINEAR DEPENDENCY</a:t>
            </a:r>
          </a:p>
        </p:txBody>
      </p:sp>
      <p:sp>
        <p:nvSpPr>
          <p:cNvPr id="7" name="TextBox 6"/>
          <p:cNvSpPr txBox="1"/>
          <p:nvPr/>
        </p:nvSpPr>
        <p:spPr>
          <a:xfrm>
            <a:off x="2754123" y="5699474"/>
            <a:ext cx="5388430" cy="1028167"/>
          </a:xfrm>
          <a:prstGeom prst="rect">
            <a:avLst/>
          </a:prstGeom>
          <a:noFill/>
        </p:spPr>
        <p:txBody>
          <a:bodyPr wrap="square" rtlCol="0">
            <a:spAutoFit/>
          </a:bodyPr>
          <a:lstStyle/>
          <a:p>
            <a:pPr algn="ctr"/>
            <a:r>
              <a:rPr lang="en-US" sz="2027" dirty="0">
                <a:latin typeface="Times New Roman" panose="02020603050405020304" pitchFamily="18" charset="0"/>
                <a:cs typeface="Times New Roman" panose="02020603050405020304" pitchFamily="18" charset="0"/>
              </a:rPr>
              <a:t>Fig 8: Comparison of Linear Regression, Logistic Regression and SVM showing decrease in accuracy</a:t>
            </a:r>
          </a:p>
        </p:txBody>
      </p:sp>
      <p:pic>
        <p:nvPicPr>
          <p:cNvPr id="6" name="Picture 5" descr="C:\Users\yeshvendra\Desktop\Graph02.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6799" y="1564365"/>
            <a:ext cx="6043078" cy="4186470"/>
          </a:xfrm>
          <a:prstGeom prst="rect">
            <a:avLst/>
          </a:prstGeom>
          <a:noFill/>
          <a:ln>
            <a:noFill/>
          </a:ln>
        </p:spPr>
      </p:pic>
      <p:cxnSp>
        <p:nvCxnSpPr>
          <p:cNvPr id="4" name="Straight Connector 3"/>
          <p:cNvCxnSpPr/>
          <p:nvPr/>
        </p:nvCxnSpPr>
        <p:spPr>
          <a:xfrm>
            <a:off x="4190772" y="2605812"/>
            <a:ext cx="1382974" cy="40761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5573747" y="3013426"/>
            <a:ext cx="1368415" cy="1892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7574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59" y="273555"/>
            <a:ext cx="8412480" cy="1060450"/>
          </a:xfrm>
        </p:spPr>
        <p:txBody>
          <a:bodyPr>
            <a:normAutofit/>
          </a:bodyPr>
          <a:lstStyle/>
          <a:p>
            <a:pPr algn="ctr"/>
            <a:r>
              <a:rPr lang="en-US" sz="2560" b="1" u="sng" dirty="0">
                <a:latin typeface="Times New Roman" panose="02020603050405020304" pitchFamily="18" charset="0"/>
                <a:cs typeface="Times New Roman" panose="02020603050405020304" pitchFamily="18" charset="0"/>
              </a:rPr>
              <a:t>DECISION TREE</a:t>
            </a:r>
          </a:p>
        </p:txBody>
      </p:sp>
      <p:sp>
        <p:nvSpPr>
          <p:cNvPr id="5" name="TextBox 4"/>
          <p:cNvSpPr txBox="1"/>
          <p:nvPr/>
        </p:nvSpPr>
        <p:spPr>
          <a:xfrm>
            <a:off x="2992449" y="6066636"/>
            <a:ext cx="4987899" cy="716222"/>
          </a:xfrm>
          <a:prstGeom prst="rect">
            <a:avLst/>
          </a:prstGeom>
          <a:noFill/>
        </p:spPr>
        <p:txBody>
          <a:bodyPr wrap="square" rtlCol="0">
            <a:spAutoFit/>
          </a:bodyPr>
          <a:lstStyle/>
          <a:p>
            <a:pPr algn="ctr"/>
            <a:r>
              <a:rPr lang="en-US" sz="2027" dirty="0">
                <a:latin typeface="Times New Roman" panose="02020603050405020304" pitchFamily="18" charset="0"/>
                <a:cs typeface="Times New Roman" panose="02020603050405020304" pitchFamily="18" charset="0"/>
              </a:rPr>
              <a:t>Fig 9: Accuracy obtained by varying parameters in Decision Tree</a:t>
            </a:r>
          </a:p>
        </p:txBody>
      </p:sp>
      <p:pic>
        <p:nvPicPr>
          <p:cNvPr id="6" name="Picture 5" descr="C:\Users\yeshvendra\AppData\Local\Microsoft\Windows\INetCache\Content.Word\Graph03.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2707" y="1334006"/>
            <a:ext cx="6667382" cy="4557586"/>
          </a:xfrm>
          <a:prstGeom prst="rect">
            <a:avLst/>
          </a:prstGeom>
          <a:noFill/>
          <a:ln>
            <a:noFill/>
          </a:ln>
        </p:spPr>
      </p:pic>
    </p:spTree>
    <p:extLst>
      <p:ext uri="{BB962C8B-B14F-4D97-AF65-F5344CB8AC3E}">
        <p14:creationId xmlns:p14="http://schemas.microsoft.com/office/powerpoint/2010/main" val="1667364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7620" y="312596"/>
            <a:ext cx="8412480" cy="1060450"/>
          </a:xfrm>
        </p:spPr>
        <p:txBody>
          <a:bodyPr>
            <a:normAutofit/>
          </a:bodyPr>
          <a:lstStyle/>
          <a:p>
            <a:pPr algn="ctr"/>
            <a:r>
              <a:rPr lang="en-US" sz="2560" b="1" u="sng" dirty="0">
                <a:latin typeface="Times New Roman" panose="02020603050405020304" pitchFamily="18" charset="0"/>
                <a:cs typeface="Times New Roman" panose="02020603050405020304" pitchFamily="18" charset="0"/>
              </a:rPr>
              <a:t>RANDOM FOREST</a:t>
            </a:r>
          </a:p>
        </p:txBody>
      </p:sp>
      <p:sp>
        <p:nvSpPr>
          <p:cNvPr id="5" name="TextBox 4"/>
          <p:cNvSpPr txBox="1"/>
          <p:nvPr/>
        </p:nvSpPr>
        <p:spPr>
          <a:xfrm>
            <a:off x="3382059" y="6085081"/>
            <a:ext cx="4203600" cy="716222"/>
          </a:xfrm>
          <a:prstGeom prst="rect">
            <a:avLst/>
          </a:prstGeom>
          <a:noFill/>
        </p:spPr>
        <p:txBody>
          <a:bodyPr wrap="square" rtlCol="0">
            <a:spAutoFit/>
          </a:bodyPr>
          <a:lstStyle/>
          <a:p>
            <a:pPr algn="ctr"/>
            <a:r>
              <a:rPr lang="en-US" sz="2027" dirty="0">
                <a:latin typeface="Times New Roman" panose="02020603050405020304" pitchFamily="18" charset="0"/>
                <a:cs typeface="Times New Roman" panose="02020603050405020304" pitchFamily="18" charset="0"/>
              </a:rPr>
              <a:t>Fig 10: Accuracy achieved with variable number of Splits and Trees</a:t>
            </a:r>
          </a:p>
        </p:txBody>
      </p:sp>
      <p:pic>
        <p:nvPicPr>
          <p:cNvPr id="6" name="Picture 5" descr="Graph0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7311" y="1373046"/>
            <a:ext cx="6973097" cy="4712035"/>
          </a:xfrm>
          <a:prstGeom prst="rect">
            <a:avLst/>
          </a:prstGeom>
          <a:noFill/>
          <a:ln>
            <a:noFill/>
          </a:ln>
        </p:spPr>
      </p:pic>
    </p:spTree>
    <p:extLst>
      <p:ext uri="{BB962C8B-B14F-4D97-AF65-F5344CB8AC3E}">
        <p14:creationId xmlns:p14="http://schemas.microsoft.com/office/powerpoint/2010/main" val="166505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312421"/>
            <a:ext cx="8412480" cy="1060450"/>
          </a:xfrm>
        </p:spPr>
        <p:txBody>
          <a:bodyPr>
            <a:normAutofit/>
          </a:bodyPr>
          <a:lstStyle/>
          <a:p>
            <a:r>
              <a:rPr lang="en-US" sz="2560" b="1" dirty="0">
                <a:latin typeface="Times New Roman" panose="02020603050405020304" pitchFamily="18" charset="0"/>
                <a:cs typeface="Times New Roman" panose="02020603050405020304" pitchFamily="18" charset="0"/>
              </a:rPr>
              <a:t>COMPARISON</a:t>
            </a:r>
          </a:p>
        </p:txBody>
      </p:sp>
      <p:pic>
        <p:nvPicPr>
          <p:cNvPr id="6146" name="Chart 3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19200"/>
            <a:ext cx="7543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152400" y="6286557"/>
            <a:ext cx="11049000" cy="716222"/>
          </a:xfrm>
          <a:prstGeom prst="rect">
            <a:avLst/>
          </a:prstGeom>
          <a:noFill/>
        </p:spPr>
        <p:txBody>
          <a:bodyPr wrap="square" rtlCol="0">
            <a:spAutoFit/>
          </a:bodyPr>
          <a:lstStyle/>
          <a:p>
            <a:pPr algn="ctr"/>
            <a:r>
              <a:rPr lang="en-US" sz="2027" dirty="0">
                <a:latin typeface="Times New Roman" panose="02020603050405020304" pitchFamily="18" charset="0"/>
                <a:cs typeface="Times New Roman" panose="02020603050405020304" pitchFamily="18" charset="0"/>
              </a:rPr>
              <a:t>Fig 11: Comparison of result with different validation</a:t>
            </a:r>
          </a:p>
          <a:p>
            <a:pPr algn="ctr"/>
            <a:r>
              <a:rPr lang="en-US" sz="2027" dirty="0">
                <a:latin typeface="Times New Roman" panose="02020603050405020304" pitchFamily="18" charset="0"/>
                <a:cs typeface="Times New Roman" panose="02020603050405020304" pitchFamily="18" charset="0"/>
              </a:rPr>
              <a:t>technique </a:t>
            </a:r>
          </a:p>
        </p:txBody>
      </p:sp>
    </p:spTree>
    <p:extLst>
      <p:ext uri="{BB962C8B-B14F-4D97-AF65-F5344CB8AC3E}">
        <p14:creationId xmlns:p14="http://schemas.microsoft.com/office/powerpoint/2010/main" val="1752906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121920"/>
            <a:ext cx="8412480" cy="1413934"/>
          </a:xfrm>
        </p:spPr>
        <p:txBody>
          <a:bodyPr>
            <a:normAutofit/>
          </a:bodyPr>
          <a:lstStyle/>
          <a:p>
            <a:pPr algn="ctr"/>
            <a:r>
              <a:rPr lang="en-IN" sz="2560" b="1" u="sng" dirty="0">
                <a:latin typeface="Times New Roman" panose="02020603050405020304" pitchFamily="18" charset="0"/>
                <a:cs typeface="Times New Roman" panose="02020603050405020304" pitchFamily="18" charset="0"/>
              </a:rPr>
              <a:t>CONCLUSION</a:t>
            </a:r>
            <a:endParaRPr lang="en-US" sz="256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535854"/>
            <a:ext cx="8778240" cy="5193454"/>
          </a:xfrm>
        </p:spPr>
        <p:txBody>
          <a:bodyPr>
            <a:normAutofit/>
          </a:bodyPr>
          <a:lstStyle/>
          <a:p>
            <a:pPr algn="just">
              <a:buFont typeface="Wingdings" panose="05000000000000000000" pitchFamily="2" charset="2"/>
              <a:buChar char="Ø"/>
            </a:pPr>
            <a:r>
              <a:rPr lang="en-US" sz="1920" dirty="0">
                <a:latin typeface="Times New Roman" panose="02020603050405020304" pitchFamily="18" charset="0"/>
                <a:cs typeface="Times New Roman" panose="02020603050405020304" pitchFamily="18" charset="0"/>
              </a:rPr>
              <a:t>Our dataset set has Non-Linear dependency.</a:t>
            </a:r>
          </a:p>
          <a:p>
            <a:pPr algn="just">
              <a:buFont typeface="Wingdings" panose="05000000000000000000" pitchFamily="2" charset="2"/>
              <a:buChar char="Ø"/>
            </a:pPr>
            <a:endParaRPr lang="en-US" sz="192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920" dirty="0">
                <a:latin typeface="Times New Roman" panose="02020603050405020304" pitchFamily="18" charset="0"/>
                <a:cs typeface="Times New Roman" panose="02020603050405020304" pitchFamily="18" charset="0"/>
              </a:rPr>
              <a:t>By correctly adjusting the parameters of Random Forest, we were able to achieve better accuracy.</a:t>
            </a:r>
          </a:p>
          <a:p>
            <a:pPr algn="just">
              <a:buFont typeface="Wingdings" panose="05000000000000000000" pitchFamily="2" charset="2"/>
              <a:buChar char="Ø"/>
            </a:pPr>
            <a:endParaRPr lang="en-US" sz="192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920" dirty="0">
                <a:latin typeface="Times New Roman" panose="02020603050405020304" pitchFamily="18" charset="0"/>
                <a:cs typeface="Times New Roman" panose="02020603050405020304" pitchFamily="18" charset="0"/>
              </a:rPr>
              <a:t> We had lesser amount of dataset so 10-fold cross-validation gave us better result.</a:t>
            </a:r>
          </a:p>
          <a:p>
            <a:pPr algn="just">
              <a:buFont typeface="Wingdings" panose="05000000000000000000" pitchFamily="2" charset="2"/>
              <a:buChar char="Ø"/>
            </a:pPr>
            <a:endParaRPr lang="en-US" sz="192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920" dirty="0">
                <a:latin typeface="Times New Roman" panose="02020603050405020304" pitchFamily="18" charset="0"/>
                <a:cs typeface="Times New Roman" panose="02020603050405020304" pitchFamily="18" charset="0"/>
              </a:rPr>
              <a:t>Our solution strategy is not so Robust in nature, every time it needs a few adjustment in parameter.</a:t>
            </a:r>
          </a:p>
          <a:p>
            <a:pPr algn="just">
              <a:buFont typeface="Wingdings" panose="05000000000000000000" pitchFamily="2" charset="2"/>
              <a:buChar char="Ø"/>
            </a:pPr>
            <a:endParaRPr lang="en-US" sz="192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920" dirty="0">
                <a:latin typeface="Times New Roman" panose="02020603050405020304" pitchFamily="18" charset="0"/>
                <a:cs typeface="Times New Roman" panose="02020603050405020304" pitchFamily="18" charset="0"/>
              </a:rPr>
              <a:t>The accuracy achieved is satisfactory but can be future improved.</a:t>
            </a:r>
          </a:p>
          <a:p>
            <a:pPr algn="just">
              <a:buFont typeface="Wingdings" panose="05000000000000000000" pitchFamily="2" charset="2"/>
              <a:buChar char="Ø"/>
            </a:pPr>
            <a:endParaRPr lang="en-US" sz="192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920" dirty="0">
                <a:latin typeface="Times New Roman" panose="02020603050405020304" pitchFamily="18" charset="0"/>
                <a:cs typeface="Times New Roman" panose="02020603050405020304" pitchFamily="18" charset="0"/>
              </a:rPr>
              <a:t> We can use data warehouses in hospital so that the amount of data increases and a greater accuracy could be achieved.</a:t>
            </a:r>
          </a:p>
        </p:txBody>
      </p:sp>
    </p:spTree>
    <p:extLst>
      <p:ext uri="{BB962C8B-B14F-4D97-AF65-F5344CB8AC3E}">
        <p14:creationId xmlns:p14="http://schemas.microsoft.com/office/powerpoint/2010/main" val="3618976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728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on clear background">
            <a:extLst>
              <a:ext uri="{FF2B5EF4-FFF2-40B4-BE49-F238E27FC236}">
                <a16:creationId xmlns:a16="http://schemas.microsoft.com/office/drawing/2014/main" id="{F4E632F5-2EC5-36DF-F586-4F7B382F60DD}"/>
              </a:ext>
            </a:extLst>
          </p:cNvPr>
          <p:cNvPicPr>
            <a:picLocks noChangeAspect="1"/>
          </p:cNvPicPr>
          <p:nvPr/>
        </p:nvPicPr>
        <p:blipFill rotWithShape="1">
          <a:blip r:embed="rId2"/>
          <a:srcRect l="40924" r="14647" b="1"/>
          <a:stretch/>
        </p:blipFill>
        <p:spPr>
          <a:xfrm>
            <a:off x="20" y="-2"/>
            <a:ext cx="4869157" cy="73152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9177" y="-1"/>
            <a:ext cx="6103622" cy="2438399"/>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0B1378-A837-41CD-F358-B9E0EBB7FF40}"/>
              </a:ext>
            </a:extLst>
          </p:cNvPr>
          <p:cNvSpPr>
            <a:spLocks noGrp="1"/>
          </p:cNvSpPr>
          <p:nvPr>
            <p:ph idx="1"/>
          </p:nvPr>
        </p:nvSpPr>
        <p:spPr>
          <a:xfrm>
            <a:off x="5586579" y="582362"/>
            <a:ext cx="4722606" cy="3730003"/>
          </a:xfrm>
        </p:spPr>
        <p:txBody>
          <a:bodyPr anchor="ct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                 </a:t>
            </a:r>
            <a:r>
              <a:rPr lang="en-US" sz="3600" i="1" dirty="0">
                <a:latin typeface="Times New Roman" panose="02020603050405020304" pitchFamily="18" charset="0"/>
                <a:cs typeface="Times New Roman" panose="02020603050405020304" pitchFamily="18" charset="0"/>
              </a:rPr>
              <a:t>THANK YOU</a:t>
            </a:r>
            <a:endParaRPr lang="en-US"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8157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5862</TotalTime>
  <Words>1787</Words>
  <Application>Microsoft Office PowerPoint</Application>
  <PresentationFormat>Custom</PresentationFormat>
  <Paragraphs>264</Paragraphs>
  <Slides>23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 MADAN MOHAN MALAVIYA UNIVERSITY OF TECHNOLOGY - GORAKHPUR</vt:lpstr>
      <vt:lpstr>TABLE OF CONTENTS</vt:lpstr>
      <vt:lpstr>INTRODUCTION</vt:lpstr>
      <vt:lpstr>PowerPoint Presentation</vt:lpstr>
      <vt:lpstr>ABSTRACT</vt:lpstr>
      <vt:lpstr>LITERATURE SURVEY</vt:lpstr>
      <vt:lpstr>PROBLEM DEFINITION</vt:lpstr>
      <vt:lpstr>SOLUTION STRATEGY</vt:lpstr>
      <vt:lpstr>CONCEPTUAL MODEL</vt:lpstr>
      <vt:lpstr>METHODLOGY</vt:lpstr>
      <vt:lpstr>IMPLEMENTATION DETAILS (Steps)</vt:lpstr>
      <vt:lpstr>IMPLEMENTATION</vt:lpstr>
      <vt:lpstr>PowerPoint Presentation</vt:lpstr>
      <vt:lpstr>10-FOLD CROSS VALIDATION</vt:lpstr>
      <vt:lpstr>ATTRIBUTES USED</vt:lpstr>
      <vt:lpstr>PowerPoint Presentation</vt:lpstr>
      <vt:lpstr>ADVANTAGES</vt:lpstr>
      <vt:lpstr>LINEAR DEPENDENCY</vt:lpstr>
      <vt:lpstr>DECISION TREE</vt:lpstr>
      <vt:lpstr>RANDOM FOREST</vt:lpstr>
      <vt:lpstr>COMPARISON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AMAN MATHUR</cp:lastModifiedBy>
  <cp:revision>164</cp:revision>
  <dcterms:created xsi:type="dcterms:W3CDTF">2022-05-05T03:53:31Z</dcterms:created>
  <dcterms:modified xsi:type="dcterms:W3CDTF">2024-05-14T16:11:30Z</dcterms:modified>
</cp:coreProperties>
</file>